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2" r:id="rId5"/>
    <p:sldId id="293" r:id="rId6"/>
    <p:sldId id="296" r:id="rId7"/>
    <p:sldId id="294" r:id="rId8"/>
    <p:sldId id="299" r:id="rId9"/>
    <p:sldId id="297" r:id="rId10"/>
    <p:sldId id="298" r:id="rId11"/>
    <p:sldId id="301" r:id="rId12"/>
    <p:sldId id="300" r:id="rId13"/>
    <p:sldId id="302" r:id="rId14"/>
    <p:sldId id="303" r:id="rId15"/>
    <p:sldId id="304"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61D99B-0F1A-47A2-855C-AB6AF017BE21}" v="90" dt="2025-11-14T08:49:56.238"/>
    <p1510:client id="{EA255343-F8F7-BB18-12AA-495E18AE7128}" v="736" dt="2025-11-14T10:08:41.02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varScale="1">
        <p:scale>
          <a:sx n="82" d="100"/>
          <a:sy n="82" d="100"/>
        </p:scale>
        <p:origin x="720" y="7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11/14/2025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11/14/2025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407764" y="1371559"/>
            <a:ext cx="8614120" cy="2057441"/>
          </a:xfrm>
        </p:spPr>
        <p:txBody>
          <a:bodyPr/>
          <a:lstStyle/>
          <a:p>
            <a:r>
              <a:rPr lang="en-IN" dirty="0">
                <a:latin typeface="+mn-lt"/>
              </a:rPr>
              <a:t>Automatic Centre Stand For Motorcycles </a:t>
            </a:r>
            <a:endParaRPr lang="en-US" dirty="0">
              <a:latin typeface="+mn-lt"/>
            </a:endParaRP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787978" y="3945799"/>
            <a:ext cx="5107343" cy="2057441"/>
          </a:xfrm>
        </p:spPr>
        <p:txBody>
          <a:bodyPr>
            <a:normAutofit fontScale="77500" lnSpcReduction="20000"/>
          </a:bodyPr>
          <a:lstStyle/>
          <a:p>
            <a:r>
              <a:rPr lang="en-US" b="1" u="sng" dirty="0"/>
              <a:t>Team: 17</a:t>
            </a:r>
          </a:p>
          <a:p>
            <a:r>
              <a:rPr lang="en-US" dirty="0" err="1"/>
              <a:t>Samithlal</a:t>
            </a:r>
            <a:r>
              <a:rPr lang="en-US" dirty="0"/>
              <a:t> 			230003013</a:t>
            </a:r>
          </a:p>
          <a:p>
            <a:r>
              <a:rPr lang="en-US" dirty="0" err="1"/>
              <a:t>Yogendhra</a:t>
            </a:r>
            <a:r>
              <a:rPr lang="en-US" dirty="0"/>
              <a:t> Babu 		230003056</a:t>
            </a:r>
          </a:p>
          <a:p>
            <a:r>
              <a:rPr lang="en-US" dirty="0"/>
              <a:t>Manthru Naik 		230003055</a:t>
            </a:r>
          </a:p>
          <a:p>
            <a:r>
              <a:rPr lang="en-US" dirty="0"/>
              <a:t>Naveen 			230003042</a:t>
            </a:r>
          </a:p>
          <a:p>
            <a:r>
              <a:rPr lang="en-US" dirty="0"/>
              <a:t>Praveen 			230003063</a:t>
            </a:r>
          </a:p>
          <a:p>
            <a:r>
              <a:rPr lang="en-US" dirty="0"/>
              <a:t>Akshay			230003087</a:t>
            </a:r>
          </a:p>
          <a:p>
            <a:endParaRPr lang="en-US" dirty="0"/>
          </a:p>
          <a:p>
            <a:endParaRPr lang="en-US" dirty="0"/>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66495E-8016-DFEB-4870-23A18F5A469B}"/>
              </a:ext>
            </a:extLst>
          </p:cNvPr>
          <p:cNvSpPr>
            <a:spLocks noGrp="1"/>
          </p:cNvSpPr>
          <p:nvPr>
            <p:ph type="sldNum" sz="quarter" idx="29"/>
          </p:nvPr>
        </p:nvSpPr>
        <p:spPr/>
        <p:txBody>
          <a:bodyPr/>
          <a:lstStyle/>
          <a:p>
            <a:fld id="{47FEACEE-25B4-4A2D-B147-27296E36371D}" type="slidenum">
              <a:rPr lang="en-US" altLang="zh-CN" smtClean="0"/>
              <a:pPr/>
              <a:t>2</a:t>
            </a:fld>
            <a:endParaRPr lang="en-US" altLang="zh-CN" dirty="0"/>
          </a:p>
        </p:txBody>
      </p:sp>
      <p:sp>
        <p:nvSpPr>
          <p:cNvPr id="8" name="TextBox 7">
            <a:extLst>
              <a:ext uri="{FF2B5EF4-FFF2-40B4-BE49-F238E27FC236}">
                <a16:creationId xmlns:a16="http://schemas.microsoft.com/office/drawing/2014/main" id="{68AF1E33-5F2E-D711-BD9D-9AFACF32F241}"/>
              </a:ext>
            </a:extLst>
          </p:cNvPr>
          <p:cNvSpPr txBox="1"/>
          <p:nvPr/>
        </p:nvSpPr>
        <p:spPr>
          <a:xfrm>
            <a:off x="933060" y="783772"/>
            <a:ext cx="4665307" cy="707886"/>
          </a:xfrm>
          <a:prstGeom prst="rect">
            <a:avLst/>
          </a:prstGeom>
        </p:spPr>
        <p:txBody>
          <a:bodyPr wrap="square" rtlCol="0">
            <a:spAutoFit/>
          </a:bodyPr>
          <a:lstStyle/>
          <a:p>
            <a:pPr marL="0" indent="0" algn="ctr">
              <a:lnSpc>
                <a:spcPct val="100000"/>
              </a:lnSpc>
              <a:spcBef>
                <a:spcPts val="0"/>
              </a:spcBef>
              <a:buFontTx/>
              <a:buNone/>
            </a:pPr>
            <a:r>
              <a:rPr lang="en-IN" sz="4000" dirty="0">
                <a:latin typeface="Abadi (Body)"/>
                <a:ea typeface="Sans Serif Collection" panose="020B0502040504020204" pitchFamily="34" charset="0"/>
                <a:cs typeface="Sans Serif Collection" panose="020B0502040504020204" pitchFamily="34" charset="0"/>
              </a:rPr>
              <a:t>Problem Statement</a:t>
            </a:r>
          </a:p>
        </p:txBody>
      </p:sp>
      <p:sp>
        <p:nvSpPr>
          <p:cNvPr id="10" name="TextBox 9">
            <a:extLst>
              <a:ext uri="{FF2B5EF4-FFF2-40B4-BE49-F238E27FC236}">
                <a16:creationId xmlns:a16="http://schemas.microsoft.com/office/drawing/2014/main" id="{994AF067-009B-4331-CD3E-46876D19D254}"/>
              </a:ext>
            </a:extLst>
          </p:cNvPr>
          <p:cNvSpPr txBox="1"/>
          <p:nvPr/>
        </p:nvSpPr>
        <p:spPr>
          <a:xfrm>
            <a:off x="1091681" y="1744824"/>
            <a:ext cx="9927771" cy="2862322"/>
          </a:xfrm>
          <a:prstGeom prst="rect">
            <a:avLst/>
          </a:prstGeom>
        </p:spPr>
        <p:txBody>
          <a:bodyPr wrap="square" lIns="91440" tIns="45720" rIns="91440" bIns="45720" rtlCol="0" anchor="t">
            <a:spAutoFit/>
          </a:bodyPr>
          <a:lstStyle/>
          <a:p>
            <a:pPr marL="285750" indent="-285750">
              <a:buFont typeface="Wingdings" panose="05000000000000000000" pitchFamily="2" charset="2"/>
              <a:buChar char="§"/>
            </a:pPr>
            <a:r>
              <a:rPr lang="en-US" dirty="0">
                <a:latin typeface="Calibri"/>
                <a:ea typeface="Calibri"/>
                <a:cs typeface="Calibri"/>
              </a:rPr>
              <a:t>Parking a motorcycle, especially heavier models, on a conventional center stand requires significant physical strength and technique. The rider must dismount and manually lift approximately 50% of the vehicle ' s weight, creating a significant barrier for a large portion of riders, including the elderly, women, and individuals with physical limitations.</a:t>
            </a:r>
          </a:p>
          <a:p>
            <a:pPr marL="285750" indent="-285750">
              <a:buFont typeface="Wingdings" panose="05000000000000000000" pitchFamily="2" charset="2"/>
              <a:buChar char="§"/>
            </a:pPr>
            <a:endParaRPr lang="en-US" dirty="0">
              <a:latin typeface="Calibri"/>
              <a:ea typeface="Calibri"/>
              <a:cs typeface="Calibri"/>
            </a:endParaRPr>
          </a:p>
          <a:p>
            <a:pPr marL="285750" indent="-285750">
              <a:buFont typeface="Wingdings" panose="05000000000000000000" pitchFamily="2" charset="2"/>
              <a:buChar char="§"/>
            </a:pPr>
            <a:r>
              <a:rPr lang="en-US" dirty="0">
                <a:latin typeface="Calibri"/>
                <a:ea typeface="Calibri"/>
                <a:cs typeface="Calibri"/>
              </a:rPr>
              <a:t>As a result, most riders default to using the less stable side stand, which leads to several issues:</a:t>
            </a:r>
          </a:p>
          <a:p>
            <a:pPr marL="800100" lvl="1" indent="-342900">
              <a:buFont typeface="+mj-lt"/>
              <a:buAutoNum type="arabicPeriod"/>
            </a:pPr>
            <a:r>
              <a:rPr lang="en-US" dirty="0">
                <a:latin typeface="Calibri"/>
                <a:ea typeface="Calibri"/>
                <a:cs typeface="Calibri"/>
              </a:rPr>
              <a:t>Increased Parking Footprint: The motorcycle leans, consuming more space in crowded parking areas.</a:t>
            </a:r>
          </a:p>
          <a:p>
            <a:pPr marL="800100" lvl="1" indent="-342900">
              <a:buFont typeface="+mj-lt"/>
              <a:buAutoNum type="arabicPeriod"/>
            </a:pPr>
            <a:r>
              <a:rPr lang="en-US" dirty="0">
                <a:latin typeface="Calibri"/>
                <a:ea typeface="Calibri"/>
                <a:cs typeface="Calibri"/>
              </a:rPr>
              <a:t>Instability: The bike is less stable on uneven or soft ground, increasing the risk of it falling over. </a:t>
            </a:r>
          </a:p>
          <a:p>
            <a:pPr marL="800100" lvl="1" indent="-342900">
              <a:buFont typeface="+mj-lt"/>
              <a:buAutoNum type="arabicPeriod"/>
            </a:pPr>
            <a:r>
              <a:rPr lang="en-US" dirty="0">
                <a:latin typeface="Calibri"/>
                <a:ea typeface="Calibri"/>
                <a:cs typeface="Calibri"/>
              </a:rPr>
              <a:t>Uneven Load: It places prolonged, uneven stress on the tires and frame components</a:t>
            </a:r>
            <a:endParaRPr lang="en-IN">
              <a:latin typeface="Calibri"/>
              <a:ea typeface="Calibri"/>
              <a:cs typeface="Calibri"/>
            </a:endParaRPr>
          </a:p>
        </p:txBody>
      </p:sp>
    </p:spTree>
    <p:extLst>
      <p:ext uri="{BB962C8B-B14F-4D97-AF65-F5344CB8AC3E}">
        <p14:creationId xmlns:p14="http://schemas.microsoft.com/office/powerpoint/2010/main" val="2006299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6D753-EAC6-8140-BFEA-922A04093BAF}"/>
              </a:ext>
            </a:extLst>
          </p:cNvPr>
          <p:cNvSpPr>
            <a:spLocks noGrp="1"/>
          </p:cNvSpPr>
          <p:nvPr>
            <p:ph type="title"/>
          </p:nvPr>
        </p:nvSpPr>
        <p:spPr>
          <a:xfrm>
            <a:off x="2033513" y="640079"/>
            <a:ext cx="7455158" cy="1115434"/>
          </a:xfrm>
        </p:spPr>
        <p:txBody>
          <a:bodyPr/>
          <a:lstStyle/>
          <a:p>
            <a:r>
              <a:rPr lang="en-US" sz="3600" dirty="0"/>
              <a:t>THE CHALLENGE OF MANUAL STANDS</a:t>
            </a:r>
            <a:endParaRPr lang="en-IN" sz="3600" dirty="0"/>
          </a:p>
        </p:txBody>
      </p:sp>
      <p:sp>
        <p:nvSpPr>
          <p:cNvPr id="5" name="Slide Number Placeholder 4">
            <a:extLst>
              <a:ext uri="{FF2B5EF4-FFF2-40B4-BE49-F238E27FC236}">
                <a16:creationId xmlns:a16="http://schemas.microsoft.com/office/drawing/2014/main" id="{ABA46E20-3C8E-400C-57C7-6780195EAB3E}"/>
              </a:ext>
            </a:extLst>
          </p:cNvPr>
          <p:cNvSpPr>
            <a:spLocks noGrp="1"/>
          </p:cNvSpPr>
          <p:nvPr>
            <p:ph type="sldNum" sz="quarter" idx="29"/>
          </p:nvPr>
        </p:nvSpPr>
        <p:spPr/>
        <p:txBody>
          <a:bodyPr/>
          <a:lstStyle/>
          <a:p>
            <a:fld id="{47FEACEE-25B4-4A2D-B147-27296E36371D}" type="slidenum">
              <a:rPr lang="en-US" altLang="zh-CN" smtClean="0"/>
              <a:pPr/>
              <a:t>3</a:t>
            </a:fld>
            <a:endParaRPr lang="en-US" altLang="zh-CN" dirty="0"/>
          </a:p>
        </p:txBody>
      </p:sp>
      <p:sp>
        <p:nvSpPr>
          <p:cNvPr id="8" name="TextBox 7">
            <a:extLst>
              <a:ext uri="{FF2B5EF4-FFF2-40B4-BE49-F238E27FC236}">
                <a16:creationId xmlns:a16="http://schemas.microsoft.com/office/drawing/2014/main" id="{EA06AE9C-05AD-609B-1E59-BBCD9C01990B}"/>
              </a:ext>
            </a:extLst>
          </p:cNvPr>
          <p:cNvSpPr txBox="1"/>
          <p:nvPr/>
        </p:nvSpPr>
        <p:spPr>
          <a:xfrm>
            <a:off x="1834288" y="1751915"/>
            <a:ext cx="5983705" cy="646331"/>
          </a:xfrm>
          <a:prstGeom prst="rect">
            <a:avLst/>
          </a:prstGeom>
        </p:spPr>
        <p:txBody>
          <a:bodyPr wrap="square" rtlCol="0">
            <a:spAutoFit/>
          </a:bodyPr>
          <a:lstStyle/>
          <a:p>
            <a:pPr algn="ctr"/>
            <a:r>
              <a:rPr lang="en-US" dirty="0"/>
              <a:t>The challenge is broken down into three main points:</a:t>
            </a:r>
          </a:p>
          <a:p>
            <a:pPr marL="0" indent="0" algn="ctr">
              <a:lnSpc>
                <a:spcPct val="100000"/>
              </a:lnSpc>
              <a:spcBef>
                <a:spcPts val="0"/>
              </a:spcBef>
              <a:buFontTx/>
              <a:buNone/>
            </a:pPr>
            <a:endParaRPr lang="en-IN" sz="1800" dirty="0">
              <a:solidFill>
                <a:prstClr val="white"/>
              </a:solidFill>
              <a:latin typeface="Posterama" panose="020B0504020200020000" pitchFamily="34" charset="0"/>
              <a:ea typeface="微软雅黑"/>
              <a:cs typeface="Posterama" panose="020B0504020200020000" pitchFamily="34" charset="0"/>
            </a:endParaRPr>
          </a:p>
        </p:txBody>
      </p:sp>
      <p:sp>
        <p:nvSpPr>
          <p:cNvPr id="12" name="Flowchart: Off-page Connector 11">
            <a:extLst>
              <a:ext uri="{FF2B5EF4-FFF2-40B4-BE49-F238E27FC236}">
                <a16:creationId xmlns:a16="http://schemas.microsoft.com/office/drawing/2014/main" id="{2EDFD386-366B-0CD8-90D5-2249AEFA5793}"/>
              </a:ext>
            </a:extLst>
          </p:cNvPr>
          <p:cNvSpPr/>
          <p:nvPr/>
        </p:nvSpPr>
        <p:spPr>
          <a:xfrm>
            <a:off x="1714283" y="3726013"/>
            <a:ext cx="1978090" cy="2118867"/>
          </a:xfrm>
          <a:prstGeom prst="flowChartOffpageConnector">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US" sz="1400" dirty="0">
                <a:latin typeface="Calibri"/>
                <a:ea typeface="Calibri"/>
                <a:cs typeface="Calibri"/>
              </a:rPr>
              <a:t>Riders must lift over </a:t>
            </a:r>
            <a:r>
              <a:rPr lang="en-US" sz="1400" b="1" dirty="0">
                <a:latin typeface="Calibri"/>
                <a:ea typeface="Calibri"/>
                <a:cs typeface="Calibri"/>
              </a:rPr>
              <a:t>50% of the bike's weight</a:t>
            </a:r>
            <a:r>
              <a:rPr lang="en-US" sz="1400" dirty="0">
                <a:latin typeface="Calibri"/>
                <a:ea typeface="Calibri"/>
                <a:cs typeface="Calibri"/>
              </a:rPr>
              <a:t>, a difficult task for many.</a:t>
            </a:r>
            <a:endParaRPr lang="en-IN" sz="1400">
              <a:latin typeface="Calibri"/>
              <a:ea typeface="Calibri"/>
              <a:cs typeface="Calibri"/>
            </a:endParaRPr>
          </a:p>
        </p:txBody>
      </p:sp>
      <p:sp>
        <p:nvSpPr>
          <p:cNvPr id="17" name="Flowchart: Off-page Connector 16">
            <a:extLst>
              <a:ext uri="{FF2B5EF4-FFF2-40B4-BE49-F238E27FC236}">
                <a16:creationId xmlns:a16="http://schemas.microsoft.com/office/drawing/2014/main" id="{22475FA5-DEDC-0601-6EEB-131FE028FFD1}"/>
              </a:ext>
            </a:extLst>
          </p:cNvPr>
          <p:cNvSpPr/>
          <p:nvPr/>
        </p:nvSpPr>
        <p:spPr>
          <a:xfrm>
            <a:off x="5106954" y="3726013"/>
            <a:ext cx="1978090" cy="2118867"/>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Calibri"/>
                <a:ea typeface="Calibri"/>
                <a:cs typeface="Calibri"/>
              </a:rPr>
              <a:t>Most riders default to the </a:t>
            </a:r>
            <a:r>
              <a:rPr lang="en-US" sz="1400" b="1" dirty="0">
                <a:latin typeface="Calibri"/>
                <a:ea typeface="Calibri"/>
                <a:cs typeface="Calibri"/>
              </a:rPr>
              <a:t>side stand</a:t>
            </a:r>
            <a:r>
              <a:rPr lang="en-US" sz="1400" dirty="0">
                <a:latin typeface="Calibri"/>
                <a:ea typeface="Calibri"/>
                <a:cs typeface="Calibri"/>
              </a:rPr>
              <a:t>, which requires </a:t>
            </a:r>
            <a:r>
              <a:rPr lang="en-US" sz="1400" b="1" dirty="0">
                <a:latin typeface="Calibri"/>
                <a:ea typeface="Calibri"/>
                <a:cs typeface="Calibri"/>
              </a:rPr>
              <a:t>more space</a:t>
            </a:r>
            <a:r>
              <a:rPr lang="en-US" sz="1400" dirty="0">
                <a:latin typeface="Calibri"/>
                <a:ea typeface="Calibri"/>
                <a:cs typeface="Calibri"/>
              </a:rPr>
              <a:t> and is </a:t>
            </a:r>
            <a:r>
              <a:rPr lang="en-US" sz="1400" b="1" dirty="0">
                <a:latin typeface="Calibri"/>
                <a:ea typeface="Calibri"/>
                <a:cs typeface="Calibri"/>
              </a:rPr>
              <a:t>less stable</a:t>
            </a:r>
            <a:r>
              <a:rPr lang="en-US" sz="1400" dirty="0">
                <a:latin typeface="Calibri"/>
                <a:ea typeface="Calibri"/>
                <a:cs typeface="Calibri"/>
              </a:rPr>
              <a:t>..</a:t>
            </a:r>
            <a:endParaRPr lang="en-IN" sz="1400" dirty="0">
              <a:latin typeface="Calibri"/>
              <a:ea typeface="Calibri"/>
              <a:cs typeface="Calibri"/>
            </a:endParaRPr>
          </a:p>
        </p:txBody>
      </p:sp>
      <p:sp>
        <p:nvSpPr>
          <p:cNvPr id="18" name="Flowchart: Off-page Connector 17">
            <a:extLst>
              <a:ext uri="{FF2B5EF4-FFF2-40B4-BE49-F238E27FC236}">
                <a16:creationId xmlns:a16="http://schemas.microsoft.com/office/drawing/2014/main" id="{C427BA1A-3066-20BA-BE6E-CCBEA4C99AC7}"/>
              </a:ext>
            </a:extLst>
          </p:cNvPr>
          <p:cNvSpPr/>
          <p:nvPr/>
        </p:nvSpPr>
        <p:spPr>
          <a:xfrm>
            <a:off x="8499625" y="3779055"/>
            <a:ext cx="1978090" cy="2118867"/>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Calibri"/>
                <a:ea typeface="Calibri"/>
                <a:cs typeface="Calibri"/>
              </a:rPr>
              <a:t>A major barrier for </a:t>
            </a:r>
            <a:r>
              <a:rPr lang="en-US" sz="1400" b="1" dirty="0">
                <a:latin typeface="Calibri"/>
                <a:ea typeface="Calibri"/>
                <a:cs typeface="Calibri"/>
              </a:rPr>
              <a:t>elderly riders</a:t>
            </a:r>
            <a:r>
              <a:rPr lang="en-US" sz="1400" dirty="0">
                <a:latin typeface="Calibri"/>
                <a:ea typeface="Calibri"/>
                <a:cs typeface="Calibri"/>
              </a:rPr>
              <a:t>, </a:t>
            </a:r>
            <a:r>
              <a:rPr lang="en-US" sz="1400" b="1" dirty="0">
                <a:latin typeface="Calibri"/>
                <a:ea typeface="Calibri"/>
                <a:cs typeface="Calibri"/>
              </a:rPr>
              <a:t>women</a:t>
            </a:r>
            <a:r>
              <a:rPr lang="en-US" sz="1400" dirty="0">
                <a:latin typeface="Calibri"/>
                <a:ea typeface="Calibri"/>
                <a:cs typeface="Calibri"/>
              </a:rPr>
              <a:t>, and those with </a:t>
            </a:r>
            <a:r>
              <a:rPr lang="en-US" sz="1400" b="1" dirty="0">
                <a:latin typeface="Calibri"/>
                <a:ea typeface="Calibri"/>
                <a:cs typeface="Calibri"/>
              </a:rPr>
              <a:t>physical limitations</a:t>
            </a:r>
            <a:r>
              <a:rPr lang="en-US" sz="1400" dirty="0">
                <a:latin typeface="Calibri"/>
                <a:ea typeface="Calibri"/>
                <a:cs typeface="Calibri"/>
              </a:rPr>
              <a:t>.</a:t>
            </a:r>
          </a:p>
        </p:txBody>
      </p:sp>
      <p:sp>
        <p:nvSpPr>
          <p:cNvPr id="19" name="Flowchart: Terminator 18">
            <a:extLst>
              <a:ext uri="{FF2B5EF4-FFF2-40B4-BE49-F238E27FC236}">
                <a16:creationId xmlns:a16="http://schemas.microsoft.com/office/drawing/2014/main" id="{B0D00B99-7D83-78B5-DFFF-B2764A26CCAD}"/>
              </a:ext>
            </a:extLst>
          </p:cNvPr>
          <p:cNvSpPr/>
          <p:nvPr/>
        </p:nvSpPr>
        <p:spPr>
          <a:xfrm>
            <a:off x="1679510" y="2706643"/>
            <a:ext cx="2258009" cy="646331"/>
          </a:xfrm>
          <a:prstGeom prst="flowChartTerminator">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US" sz="1600" b="1" dirty="0">
                <a:latin typeface="Calibri"/>
                <a:ea typeface="Calibri"/>
                <a:cs typeface="Calibri"/>
              </a:rPr>
              <a:t>Significant Physical Effort</a:t>
            </a:r>
            <a:endParaRPr lang="en-US" sz="1600">
              <a:latin typeface="Calibri"/>
              <a:ea typeface="Calibri"/>
              <a:cs typeface="Calibri"/>
            </a:endParaRPr>
          </a:p>
        </p:txBody>
      </p:sp>
      <p:sp>
        <p:nvSpPr>
          <p:cNvPr id="20" name="Flowchart: Terminator 19">
            <a:extLst>
              <a:ext uri="{FF2B5EF4-FFF2-40B4-BE49-F238E27FC236}">
                <a16:creationId xmlns:a16="http://schemas.microsoft.com/office/drawing/2014/main" id="{3B3B77CA-E986-E716-4691-4585AA24F717}"/>
              </a:ext>
            </a:extLst>
          </p:cNvPr>
          <p:cNvSpPr/>
          <p:nvPr/>
        </p:nvSpPr>
        <p:spPr>
          <a:xfrm>
            <a:off x="4966995" y="2720878"/>
            <a:ext cx="2258009" cy="646331"/>
          </a:xfrm>
          <a:prstGeom prst="flowChartTerminator">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r>
              <a:rPr lang="en-US" sz="1600" b="1" dirty="0">
                <a:latin typeface="Calibri"/>
                <a:ea typeface="Calibri"/>
                <a:cs typeface="Calibri"/>
              </a:rPr>
              <a:t>Inconvenience  &amp;                            Instability</a:t>
            </a:r>
            <a:endParaRPr lang="en-US" sz="1600" dirty="0">
              <a:latin typeface="Calibri"/>
              <a:ea typeface="Calibri"/>
              <a:cs typeface="Calibri"/>
            </a:endParaRPr>
          </a:p>
        </p:txBody>
      </p:sp>
      <p:sp>
        <p:nvSpPr>
          <p:cNvPr id="21" name="Flowchart: Terminator 20">
            <a:extLst>
              <a:ext uri="{FF2B5EF4-FFF2-40B4-BE49-F238E27FC236}">
                <a16:creationId xmlns:a16="http://schemas.microsoft.com/office/drawing/2014/main" id="{58853193-D1CC-CC26-DF9E-2A620F6986CC}"/>
              </a:ext>
            </a:extLst>
          </p:cNvPr>
          <p:cNvSpPr/>
          <p:nvPr/>
        </p:nvSpPr>
        <p:spPr>
          <a:xfrm>
            <a:off x="8254481" y="2706641"/>
            <a:ext cx="2258009" cy="646331"/>
          </a:xfrm>
          <a:prstGeom prst="flowChartTerminator">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r>
              <a:rPr lang="en-US" sz="1600" b="1" dirty="0">
                <a:latin typeface="Calibri"/>
                <a:ea typeface="Calibri"/>
                <a:cs typeface="Calibri"/>
              </a:rPr>
              <a:t>   Accessibility Issues</a:t>
            </a:r>
            <a:endParaRPr lang="en-US" sz="1600" dirty="0">
              <a:latin typeface="Calibri"/>
              <a:ea typeface="Calibri"/>
              <a:cs typeface="Calibri"/>
            </a:endParaRPr>
          </a:p>
        </p:txBody>
      </p:sp>
    </p:spTree>
    <p:extLst>
      <p:ext uri="{BB962C8B-B14F-4D97-AF65-F5344CB8AC3E}">
        <p14:creationId xmlns:p14="http://schemas.microsoft.com/office/powerpoint/2010/main" val="1686841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4E1307C-1E5A-E26C-5E01-C52F4068A470}"/>
              </a:ext>
            </a:extLst>
          </p:cNvPr>
          <p:cNvSpPr>
            <a:spLocks noGrp="1"/>
          </p:cNvSpPr>
          <p:nvPr>
            <p:ph type="sldNum" sz="quarter" idx="29"/>
          </p:nvPr>
        </p:nvSpPr>
        <p:spPr/>
        <p:txBody>
          <a:bodyPr/>
          <a:lstStyle/>
          <a:p>
            <a:fld id="{47FEACEE-25B4-4A2D-B147-27296E36371D}" type="slidenum">
              <a:rPr lang="en-US" altLang="zh-CN" smtClean="0"/>
              <a:pPr/>
              <a:t>4</a:t>
            </a:fld>
            <a:endParaRPr lang="en-US" altLang="zh-CN" dirty="0"/>
          </a:p>
        </p:txBody>
      </p:sp>
      <p:sp>
        <p:nvSpPr>
          <p:cNvPr id="10" name="Title 1">
            <a:extLst>
              <a:ext uri="{FF2B5EF4-FFF2-40B4-BE49-F238E27FC236}">
                <a16:creationId xmlns:a16="http://schemas.microsoft.com/office/drawing/2014/main" id="{49133F4E-C7C2-0CF1-A89A-9AA7AE65DFBD}"/>
              </a:ext>
            </a:extLst>
          </p:cNvPr>
          <p:cNvSpPr>
            <a:spLocks noGrp="1"/>
          </p:cNvSpPr>
          <p:nvPr>
            <p:ph type="title"/>
          </p:nvPr>
        </p:nvSpPr>
        <p:spPr>
          <a:xfrm>
            <a:off x="671244" y="500119"/>
            <a:ext cx="6765254" cy="1115434"/>
          </a:xfrm>
        </p:spPr>
        <p:txBody>
          <a:bodyPr/>
          <a:lstStyle/>
          <a:p>
            <a:r>
              <a:rPr lang="en-US" sz="3600" dirty="0"/>
              <a:t>Our Solution: The Smart Stand</a:t>
            </a:r>
            <a:endParaRPr lang="en-IN" sz="3600" dirty="0"/>
          </a:p>
        </p:txBody>
      </p:sp>
      <p:sp>
        <p:nvSpPr>
          <p:cNvPr id="11" name="TextBox 10">
            <a:extLst>
              <a:ext uri="{FF2B5EF4-FFF2-40B4-BE49-F238E27FC236}">
                <a16:creationId xmlns:a16="http://schemas.microsoft.com/office/drawing/2014/main" id="{1C55D90A-8DDC-5BDD-9F86-072AB2E04077}"/>
              </a:ext>
            </a:extLst>
          </p:cNvPr>
          <p:cNvSpPr txBox="1"/>
          <p:nvPr/>
        </p:nvSpPr>
        <p:spPr>
          <a:xfrm>
            <a:off x="783773" y="1880132"/>
            <a:ext cx="5654350" cy="3372462"/>
          </a:xfrm>
          <a:prstGeom prst="rect">
            <a:avLst/>
          </a:prstGeom>
        </p:spPr>
        <p:txBody>
          <a:bodyPr wrap="square" lIns="91440" tIns="45720" rIns="91440" bIns="45720" rtlCol="0" anchor="t">
            <a:spAutoFit/>
          </a:bodyPr>
          <a:lstStyle/>
          <a:p>
            <a:pPr marL="285750" indent="-285750">
              <a:lnSpc>
                <a:spcPct val="150000"/>
              </a:lnSpc>
              <a:buFont typeface="Wingdings" panose="05000000000000000000" pitchFamily="2" charset="2"/>
              <a:buChar char="§"/>
            </a:pPr>
            <a:r>
              <a:rPr lang="en-US" dirty="0">
                <a:latin typeface="Nirmala UI"/>
                <a:ea typeface="Nirmala UI"/>
                <a:cs typeface="Nirmala UI"/>
              </a:rPr>
              <a:t>We have engineered a motorized mechanism that deploys and retracts the center stand with the flick of a switch with the help of a linear actuator. It does all the heavy lifting, making parking completely effortless.</a:t>
            </a:r>
          </a:p>
          <a:p>
            <a:pPr marL="285750" indent="-285750">
              <a:lnSpc>
                <a:spcPct val="150000"/>
              </a:lnSpc>
              <a:buFont typeface="Wingdings" panose="05000000000000000000" pitchFamily="2" charset="2"/>
              <a:buChar char="§"/>
            </a:pPr>
            <a:r>
              <a:rPr lang="en-US" dirty="0">
                <a:latin typeface="Nirmala UI"/>
                <a:ea typeface="Nirmala UI"/>
                <a:cs typeface="Nirmala UI"/>
              </a:rPr>
              <a:t>Zero physical effort required</a:t>
            </a:r>
          </a:p>
          <a:p>
            <a:pPr marL="285750" indent="-285750">
              <a:lnSpc>
                <a:spcPct val="150000"/>
              </a:lnSpc>
              <a:buFont typeface="Wingdings" panose="05000000000000000000" pitchFamily="2" charset="2"/>
              <a:buChar char="§"/>
            </a:pPr>
            <a:r>
              <a:rPr lang="en-US" dirty="0">
                <a:latin typeface="Nirmala UI"/>
                <a:ea typeface="Nirmala UI"/>
                <a:cs typeface="Nirmala UI"/>
              </a:rPr>
              <a:t>Increases safety and </a:t>
            </a:r>
            <a:r>
              <a:rPr lang="en-US" dirty="0">
                <a:latin typeface="Calibri"/>
                <a:ea typeface="Nirmala UI"/>
                <a:cs typeface="Nirmala UI"/>
              </a:rPr>
              <a:t>stability</a:t>
            </a:r>
            <a:r>
              <a:rPr lang="en-US" dirty="0">
                <a:latin typeface="Nirmala UI"/>
                <a:ea typeface="Nirmala UI"/>
                <a:cs typeface="Nirmala UI"/>
              </a:rPr>
              <a:t>.</a:t>
            </a:r>
            <a:endParaRPr lang="en-US">
              <a:latin typeface="Nirmala UI"/>
              <a:ea typeface="Nirmala UI"/>
              <a:cs typeface="Nirmala UI"/>
            </a:endParaRPr>
          </a:p>
          <a:p>
            <a:pPr marL="285750" indent="-285750">
              <a:lnSpc>
                <a:spcPct val="150000"/>
              </a:lnSpc>
              <a:buFont typeface="Wingdings" panose="05000000000000000000" pitchFamily="2" charset="2"/>
              <a:buChar char="§"/>
            </a:pPr>
            <a:r>
              <a:rPr lang="en-US" dirty="0">
                <a:latin typeface="Nirmala UI"/>
                <a:ea typeface="Nirmala UI"/>
                <a:cs typeface="Nirmala UI"/>
              </a:rPr>
              <a:t>Designed for universal application</a:t>
            </a:r>
            <a:endParaRPr lang="en-IN" sz="1800" dirty="0">
              <a:latin typeface="Nirmala UI"/>
              <a:ea typeface="Nirmala UI"/>
              <a:cs typeface="Nirmala UI"/>
            </a:endParaRPr>
          </a:p>
        </p:txBody>
      </p:sp>
      <p:pic>
        <p:nvPicPr>
          <p:cNvPr id="13" name="Picture 12">
            <a:extLst>
              <a:ext uri="{FF2B5EF4-FFF2-40B4-BE49-F238E27FC236}">
                <a16:creationId xmlns:a16="http://schemas.microsoft.com/office/drawing/2014/main" id="{ADE567E0-59AC-88B4-F5AB-1669249C44A4}"/>
              </a:ext>
            </a:extLst>
          </p:cNvPr>
          <p:cNvPicPr>
            <a:picLocks noChangeAspect="1"/>
          </p:cNvPicPr>
          <p:nvPr/>
        </p:nvPicPr>
        <p:blipFill>
          <a:blip r:embed="rId2"/>
          <a:stretch>
            <a:fillRect/>
          </a:stretch>
        </p:blipFill>
        <p:spPr>
          <a:xfrm>
            <a:off x="6674580" y="1880133"/>
            <a:ext cx="4937285" cy="3372462"/>
          </a:xfrm>
          <a:prstGeom prst="rect">
            <a:avLst/>
          </a:prstGeom>
        </p:spPr>
      </p:pic>
    </p:spTree>
    <p:extLst>
      <p:ext uri="{BB962C8B-B14F-4D97-AF65-F5344CB8AC3E}">
        <p14:creationId xmlns:p14="http://schemas.microsoft.com/office/powerpoint/2010/main" val="3511096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33E5-3867-4820-805A-866A3958602C}"/>
              </a:ext>
            </a:extLst>
          </p:cNvPr>
          <p:cNvSpPr>
            <a:spLocks noGrp="1"/>
          </p:cNvSpPr>
          <p:nvPr>
            <p:ph type="title"/>
          </p:nvPr>
        </p:nvSpPr>
        <p:spPr>
          <a:xfrm>
            <a:off x="986971" y="507076"/>
            <a:ext cx="10515600" cy="1115434"/>
          </a:xfrm>
        </p:spPr>
        <p:txBody>
          <a:bodyPr/>
          <a:lstStyle/>
          <a:p>
            <a:r>
              <a:rPr lang="en-IN" sz="3600" dirty="0"/>
              <a:t>List of Items used</a:t>
            </a:r>
          </a:p>
        </p:txBody>
      </p:sp>
      <p:sp>
        <p:nvSpPr>
          <p:cNvPr id="5" name="Slide Number Placeholder 4">
            <a:extLst>
              <a:ext uri="{FF2B5EF4-FFF2-40B4-BE49-F238E27FC236}">
                <a16:creationId xmlns:a16="http://schemas.microsoft.com/office/drawing/2014/main" id="{69B0B335-8D6B-9A4A-8975-85F4EB9BDB0A}"/>
              </a:ext>
            </a:extLst>
          </p:cNvPr>
          <p:cNvSpPr>
            <a:spLocks noGrp="1"/>
          </p:cNvSpPr>
          <p:nvPr>
            <p:ph type="sldNum" sz="quarter" idx="29"/>
          </p:nvPr>
        </p:nvSpPr>
        <p:spPr/>
        <p:txBody>
          <a:bodyPr/>
          <a:lstStyle/>
          <a:p>
            <a:fld id="{47FEACEE-25B4-4A2D-B147-27296E36371D}" type="slidenum">
              <a:rPr lang="en-US" altLang="zh-CN" smtClean="0"/>
              <a:pPr/>
              <a:t>5</a:t>
            </a:fld>
            <a:endParaRPr lang="en-US" altLang="zh-CN" dirty="0"/>
          </a:p>
        </p:txBody>
      </p:sp>
      <p:graphicFrame>
        <p:nvGraphicFramePr>
          <p:cNvPr id="11" name="Table 10">
            <a:extLst>
              <a:ext uri="{FF2B5EF4-FFF2-40B4-BE49-F238E27FC236}">
                <a16:creationId xmlns:a16="http://schemas.microsoft.com/office/drawing/2014/main" id="{5305D2D8-1E5A-9758-16EE-39EEED246F6F}"/>
              </a:ext>
            </a:extLst>
          </p:cNvPr>
          <p:cNvGraphicFramePr>
            <a:graphicFrameLocks noGrp="1"/>
          </p:cNvGraphicFramePr>
          <p:nvPr>
            <p:extLst>
              <p:ext uri="{D42A27DB-BD31-4B8C-83A1-F6EECF244321}">
                <p14:modId xmlns:p14="http://schemas.microsoft.com/office/powerpoint/2010/main" val="1177790967"/>
              </p:ext>
            </p:extLst>
          </p:nvPr>
        </p:nvGraphicFramePr>
        <p:xfrm>
          <a:off x="1089608" y="1799792"/>
          <a:ext cx="8128000" cy="3126564"/>
        </p:xfrm>
        <a:graphic>
          <a:graphicData uri="http://schemas.openxmlformats.org/drawingml/2006/table">
            <a:tbl>
              <a:tblPr firstRow="1" bandRow="1">
                <a:tableStyleId>{C083E6E3-FA7D-4D7B-A595-EF9225AFEA82}</a:tableStyleId>
              </a:tblPr>
              <a:tblGrid>
                <a:gridCol w="8128000">
                  <a:extLst>
                    <a:ext uri="{9D8B030D-6E8A-4147-A177-3AD203B41FA5}">
                      <a16:colId xmlns:a16="http://schemas.microsoft.com/office/drawing/2014/main" val="1042094348"/>
                    </a:ext>
                  </a:extLst>
                </a:gridCol>
              </a:tblGrid>
              <a:tr h="370840">
                <a:tc>
                  <a:txBody>
                    <a:bodyPr/>
                    <a:lstStyle/>
                    <a:p>
                      <a:r>
                        <a:rPr lang="en-IN" sz="2400" dirty="0">
                          <a:latin typeface="Calibri"/>
                        </a:rPr>
                        <a:t>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006"/>
                  </a:ext>
                </a:extLst>
              </a:tr>
              <a:tr h="370840">
                <a:tc>
                  <a:txBody>
                    <a:bodyPr/>
                    <a:lstStyle/>
                    <a:p>
                      <a:r>
                        <a:rPr lang="en-IN" dirty="0">
                          <a:latin typeface="Calibri"/>
                        </a:rPr>
                        <a:t>TT Gear Motor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9398001"/>
                  </a:ext>
                </a:extLst>
              </a:tr>
              <a:tr h="370840">
                <a:tc>
                  <a:txBody>
                    <a:bodyPr/>
                    <a:lstStyle/>
                    <a:p>
                      <a:r>
                        <a:rPr lang="en-IN" dirty="0">
                          <a:latin typeface="Calibri"/>
                        </a:rPr>
                        <a:t>nano board 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740777"/>
                  </a:ext>
                </a:extLst>
              </a:tr>
              <a:tr h="444324">
                <a:tc>
                  <a:txBody>
                    <a:bodyPr/>
                    <a:lstStyle/>
                    <a:p>
                      <a:r>
                        <a:rPr lang="en-IN" dirty="0">
                          <a:latin typeface="Calibri"/>
                        </a:rPr>
                        <a:t>M6 Threaded Bar &amp; Nut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574005"/>
                  </a:ext>
                </a:extLst>
              </a:tr>
              <a:tr h="370840">
                <a:tc>
                  <a:txBody>
                    <a:bodyPr/>
                    <a:lstStyle/>
                    <a:p>
                      <a:r>
                        <a:rPr lang="en-IN" dirty="0">
                          <a:latin typeface="Calibri"/>
                        </a:rPr>
                        <a:t>limit switches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4524893"/>
                  </a:ext>
                </a:extLst>
              </a:tr>
              <a:tr h="370840">
                <a:tc>
                  <a:txBody>
                    <a:bodyPr/>
                    <a:lstStyle/>
                    <a:p>
                      <a:r>
                        <a:rPr lang="en-IN" dirty="0">
                          <a:latin typeface="Calibri"/>
                        </a:rPr>
                        <a:t>push buttons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179044"/>
                  </a:ext>
                </a:extLst>
              </a:tr>
              <a:tr h="370840">
                <a:tc>
                  <a:txBody>
                    <a:bodyPr/>
                    <a:lstStyle/>
                    <a:p>
                      <a:r>
                        <a:rPr lang="en-IN" dirty="0">
                          <a:latin typeface="Calibri"/>
                        </a:rPr>
                        <a:t>5V Relay Modules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940312"/>
                  </a:ext>
                </a:extLst>
              </a:tr>
              <a:tr h="370840">
                <a:tc>
                  <a:txBody>
                    <a:bodyPr/>
                    <a:lstStyle/>
                    <a:p>
                      <a:r>
                        <a:rPr lang="en-US" dirty="0">
                          <a:latin typeface="Calibri"/>
                        </a:rPr>
                        <a:t>9v battery + snap clip connector</a:t>
                      </a:r>
                      <a:endParaRPr lang="en-IN">
                        <a:latin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1217048"/>
                  </a:ext>
                </a:extLst>
              </a:tr>
            </a:tbl>
          </a:graphicData>
        </a:graphic>
      </p:graphicFrame>
    </p:spTree>
    <p:extLst>
      <p:ext uri="{BB962C8B-B14F-4D97-AF65-F5344CB8AC3E}">
        <p14:creationId xmlns:p14="http://schemas.microsoft.com/office/powerpoint/2010/main" val="755107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D81F-C4A1-33DC-59DC-9B4AAA6017EF}"/>
              </a:ext>
            </a:extLst>
          </p:cNvPr>
          <p:cNvSpPr>
            <a:spLocks noGrp="1"/>
          </p:cNvSpPr>
          <p:nvPr>
            <p:ph type="title"/>
          </p:nvPr>
        </p:nvSpPr>
        <p:spPr>
          <a:xfrm>
            <a:off x="587829" y="320464"/>
            <a:ext cx="10515600" cy="1115434"/>
          </a:xfrm>
        </p:spPr>
        <p:txBody>
          <a:bodyPr/>
          <a:lstStyle/>
          <a:p>
            <a:r>
              <a:rPr lang="en-IN" sz="3600" dirty="0">
                <a:latin typeface="Calibri"/>
                <a:ea typeface="Calibri"/>
                <a:cs typeface="Calibri"/>
              </a:rPr>
              <a:t>Working</a:t>
            </a:r>
            <a:r>
              <a:rPr lang="en-IN" sz="3600" dirty="0"/>
              <a:t> Principle</a:t>
            </a:r>
          </a:p>
        </p:txBody>
      </p:sp>
      <p:sp>
        <p:nvSpPr>
          <p:cNvPr id="5" name="Slide Number Placeholder 4">
            <a:extLst>
              <a:ext uri="{FF2B5EF4-FFF2-40B4-BE49-F238E27FC236}">
                <a16:creationId xmlns:a16="http://schemas.microsoft.com/office/drawing/2014/main" id="{1154F978-EA2F-45CB-DF09-DD5486C16086}"/>
              </a:ext>
            </a:extLst>
          </p:cNvPr>
          <p:cNvSpPr>
            <a:spLocks noGrp="1"/>
          </p:cNvSpPr>
          <p:nvPr>
            <p:ph type="sldNum" sz="quarter" idx="29"/>
          </p:nvPr>
        </p:nvSpPr>
        <p:spPr/>
        <p:txBody>
          <a:bodyPr/>
          <a:lstStyle/>
          <a:p>
            <a:fld id="{47FEACEE-25B4-4A2D-B147-27296E36371D}" type="slidenum">
              <a:rPr lang="en-US" altLang="zh-CN" smtClean="0"/>
              <a:pPr/>
              <a:t>6</a:t>
            </a:fld>
            <a:endParaRPr lang="en-US" altLang="zh-CN" dirty="0"/>
          </a:p>
        </p:txBody>
      </p:sp>
      <p:sp>
        <p:nvSpPr>
          <p:cNvPr id="7" name="TextBox 6">
            <a:extLst>
              <a:ext uri="{FF2B5EF4-FFF2-40B4-BE49-F238E27FC236}">
                <a16:creationId xmlns:a16="http://schemas.microsoft.com/office/drawing/2014/main" id="{CB484F63-CEB3-7229-B0F9-B85200437F6D}"/>
              </a:ext>
            </a:extLst>
          </p:cNvPr>
          <p:cNvSpPr txBox="1"/>
          <p:nvPr/>
        </p:nvSpPr>
        <p:spPr>
          <a:xfrm>
            <a:off x="765110" y="1317133"/>
            <a:ext cx="10839061" cy="4524315"/>
          </a:xfrm>
          <a:prstGeom prst="rect">
            <a:avLst/>
          </a:prstGeom>
        </p:spPr>
        <p:txBody>
          <a:bodyPr wrap="square" lIns="91440" tIns="45720" rIns="91440" bIns="45720" rtlCol="0" anchor="t">
            <a:spAutoFit/>
          </a:bodyPr>
          <a:lstStyle/>
          <a:p>
            <a:r>
              <a:rPr lang="en-US" b="1" dirty="0">
                <a:latin typeface="Calibri"/>
                <a:ea typeface="Calibri"/>
                <a:cs typeface="Calibri"/>
              </a:rPr>
              <a:t>1. User Command </a:t>
            </a:r>
          </a:p>
          <a:p>
            <a:pPr marL="742950" lvl="1" indent="-285750">
              <a:buFont typeface="Wingdings" panose="05000000000000000000" pitchFamily="2" charset="2"/>
              <a:buChar char="§"/>
            </a:pPr>
            <a:r>
              <a:rPr lang="en-US" dirty="0">
                <a:latin typeface="Calibri"/>
                <a:ea typeface="Calibri"/>
                <a:cs typeface="Calibri"/>
              </a:rPr>
              <a:t>The process begins when you give a single, quick press to one of the two limit Switches. One button is for "Extend" and the other is for "Retract". </a:t>
            </a:r>
          </a:p>
          <a:p>
            <a:pPr marL="742950" lvl="1" indent="-285750">
              <a:buFont typeface="Wingdings" panose="05000000000000000000" pitchFamily="2" charset="2"/>
              <a:buChar char="§"/>
            </a:pPr>
            <a:endParaRPr lang="en-US" dirty="0">
              <a:latin typeface="Calibri"/>
              <a:ea typeface="Calibri"/>
              <a:cs typeface="Calibri"/>
            </a:endParaRPr>
          </a:p>
          <a:p>
            <a:r>
              <a:rPr lang="en-US" b="1" dirty="0">
                <a:latin typeface="Calibri"/>
                <a:ea typeface="Calibri"/>
                <a:cs typeface="Calibri"/>
              </a:rPr>
              <a:t>2. The Arduino "Brain" </a:t>
            </a:r>
          </a:p>
          <a:p>
            <a:pPr marL="742950" lvl="1" indent="-285750">
              <a:buFont typeface="Wingdings" panose="05000000000000000000" pitchFamily="2" charset="2"/>
              <a:buChar char="§"/>
            </a:pPr>
            <a:r>
              <a:rPr lang="en-US" dirty="0">
                <a:latin typeface="Calibri"/>
                <a:ea typeface="Calibri"/>
                <a:cs typeface="Calibri"/>
              </a:rPr>
              <a:t>The button press sends a simple electrical signal to the Arduino Nano. The Arduino, acting as the brain, instantly recognizes which button was pressed and knows which direction the motor needs to turn. </a:t>
            </a:r>
          </a:p>
          <a:p>
            <a:pPr marL="742950" lvl="1" indent="-285750">
              <a:buFont typeface="Wingdings" panose="05000000000000000000" pitchFamily="2" charset="2"/>
              <a:buChar char="§"/>
            </a:pPr>
            <a:endParaRPr lang="en-US" dirty="0">
              <a:latin typeface="Calibri"/>
              <a:ea typeface="Calibri"/>
              <a:cs typeface="Calibri"/>
            </a:endParaRPr>
          </a:p>
          <a:p>
            <a:r>
              <a:rPr lang="en-US" b="1" dirty="0">
                <a:latin typeface="Calibri"/>
                <a:ea typeface="Calibri"/>
                <a:cs typeface="Calibri"/>
              </a:rPr>
              <a:t>3. Controlling the Relays </a:t>
            </a:r>
            <a:endParaRPr lang="en-US" b="1">
              <a:latin typeface="Calibri"/>
              <a:ea typeface="Calibri"/>
              <a:cs typeface="Calibri"/>
            </a:endParaRPr>
          </a:p>
          <a:p>
            <a:pPr marL="742950" lvl="1" indent="-285750">
              <a:buFont typeface="Wingdings" panose="05000000000000000000" pitchFamily="2" charset="2"/>
              <a:buChar char="§"/>
            </a:pPr>
            <a:r>
              <a:rPr lang="en-US" dirty="0">
                <a:latin typeface="Calibri"/>
                <a:ea typeface="Calibri"/>
                <a:cs typeface="Calibri"/>
              </a:rPr>
              <a:t>The Arduino then sends a low-power 5V signal to the 2-Channel 5V Relay Module. </a:t>
            </a:r>
          </a:p>
          <a:p>
            <a:pPr marL="1314450" lvl="2" indent="-400050">
              <a:buFont typeface="+mj-lt"/>
              <a:buAutoNum type="romanUcPeriod"/>
            </a:pPr>
            <a:r>
              <a:rPr lang="en-US" dirty="0">
                <a:latin typeface="Calibri"/>
                <a:ea typeface="Calibri"/>
                <a:cs typeface="Calibri"/>
              </a:rPr>
              <a:t>If you press "Extend" it activates Relay 1. </a:t>
            </a:r>
          </a:p>
          <a:p>
            <a:pPr marL="1314450" lvl="2" indent="-400050">
              <a:buFont typeface="+mj-lt"/>
              <a:buAutoNum type="romanUcPeriod"/>
            </a:pPr>
            <a:r>
              <a:rPr lang="en-US" dirty="0">
                <a:latin typeface="Calibri"/>
                <a:ea typeface="Calibri"/>
                <a:cs typeface="Calibri"/>
              </a:rPr>
              <a:t>If you press "Retract" it activates Relay 2. </a:t>
            </a:r>
          </a:p>
          <a:p>
            <a:pPr marL="742950" lvl="1" indent="-285750">
              <a:buFont typeface="Wingdings" panose="05000000000000000000" pitchFamily="2" charset="2"/>
              <a:buChar char="§"/>
            </a:pPr>
            <a:endParaRPr lang="en-US" dirty="0">
              <a:latin typeface="Calibri"/>
              <a:ea typeface="Calibri"/>
              <a:cs typeface="Calibri"/>
            </a:endParaRPr>
          </a:p>
          <a:p>
            <a:pPr marL="742950" lvl="1" indent="-285750">
              <a:buFont typeface="Wingdings" panose="05000000000000000000" pitchFamily="2" charset="2"/>
              <a:buChar char="§"/>
            </a:pPr>
            <a:r>
              <a:rPr lang="en-US" dirty="0">
                <a:latin typeface="Calibri"/>
                <a:ea typeface="Calibri"/>
                <a:cs typeface="Calibri"/>
              </a:rPr>
              <a:t>The relays act as heavy-duty, remote-controlled switches. </a:t>
            </a:r>
          </a:p>
          <a:p>
            <a:pPr marL="742950" lvl="1" indent="-285750">
              <a:buFont typeface="Wingdings" panose="05000000000000000000" pitchFamily="2" charset="2"/>
              <a:buChar char="§"/>
            </a:pPr>
            <a:r>
              <a:rPr lang="en-US" dirty="0">
                <a:latin typeface="Calibri"/>
                <a:ea typeface="Calibri"/>
                <a:cs typeface="Calibri"/>
              </a:rPr>
              <a:t>They use the small 5V signal from the Arduino to switch the 9V circuit for the motor. The two relays are wired in an "H-Bridge " configuration, which allows them to reverse the motor ' s polarity. </a:t>
            </a:r>
            <a:endParaRPr lang="en-IN">
              <a:solidFill>
                <a:prstClr val="white"/>
              </a:solidFill>
              <a:latin typeface="Calibri"/>
              <a:ea typeface="Calibri"/>
              <a:cs typeface="Calibri"/>
            </a:endParaRPr>
          </a:p>
        </p:txBody>
      </p:sp>
    </p:spTree>
    <p:extLst>
      <p:ext uri="{BB962C8B-B14F-4D97-AF65-F5344CB8AC3E}">
        <p14:creationId xmlns:p14="http://schemas.microsoft.com/office/powerpoint/2010/main" val="3106337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D8C233F-1ABB-A220-82C2-B014DE0E194A}"/>
              </a:ext>
            </a:extLst>
          </p:cNvPr>
          <p:cNvSpPr>
            <a:spLocks noGrp="1"/>
          </p:cNvSpPr>
          <p:nvPr>
            <p:ph type="sldNum" sz="quarter" idx="29"/>
          </p:nvPr>
        </p:nvSpPr>
        <p:spPr/>
        <p:txBody>
          <a:bodyPr/>
          <a:lstStyle/>
          <a:p>
            <a:fld id="{47FEACEE-25B4-4A2D-B147-27296E36371D}" type="slidenum">
              <a:rPr lang="en-US" altLang="zh-CN" smtClean="0"/>
              <a:pPr/>
              <a:t>7</a:t>
            </a:fld>
            <a:endParaRPr lang="en-US" altLang="zh-CN" dirty="0"/>
          </a:p>
        </p:txBody>
      </p:sp>
      <p:sp>
        <p:nvSpPr>
          <p:cNvPr id="6" name="TextBox 5">
            <a:extLst>
              <a:ext uri="{FF2B5EF4-FFF2-40B4-BE49-F238E27FC236}">
                <a16:creationId xmlns:a16="http://schemas.microsoft.com/office/drawing/2014/main" id="{17C2CCD2-F636-4AFC-4C3A-84E6C4F7057A}"/>
              </a:ext>
            </a:extLst>
          </p:cNvPr>
          <p:cNvSpPr txBox="1"/>
          <p:nvPr/>
        </p:nvSpPr>
        <p:spPr>
          <a:xfrm>
            <a:off x="637277" y="1101528"/>
            <a:ext cx="11009253" cy="4247317"/>
          </a:xfrm>
          <a:prstGeom prst="rect">
            <a:avLst/>
          </a:prstGeom>
        </p:spPr>
        <p:txBody>
          <a:bodyPr wrap="square" lIns="91440" tIns="45720" rIns="91440" bIns="45720" rtlCol="0" anchor="t">
            <a:spAutoFit/>
          </a:bodyPr>
          <a:lstStyle/>
          <a:p>
            <a:r>
              <a:rPr lang="en-US" b="1" dirty="0">
                <a:latin typeface="Calibri"/>
                <a:ea typeface="Calibri"/>
                <a:cs typeface="Calibri"/>
              </a:rPr>
              <a:t>4. Powering the Motor </a:t>
            </a:r>
          </a:p>
          <a:p>
            <a:pPr marL="742950" lvl="1" indent="-285750">
              <a:buFont typeface="Wingdings" panose="05000000000000000000" pitchFamily="2" charset="2"/>
              <a:buChar char="§"/>
            </a:pPr>
            <a:r>
              <a:rPr lang="en-US" dirty="0">
                <a:latin typeface="Calibri"/>
                <a:ea typeface="Calibri"/>
                <a:cs typeface="Calibri"/>
              </a:rPr>
              <a:t>Once a relay is activated, it allows high-current 9V power to flow from the battery to the TT Gear Motor, causing it to spin. The 1N4007 Diodes(not attached) are connected across the motor to absorb any harmful voltage spikes, protecting the relays.</a:t>
            </a:r>
          </a:p>
          <a:p>
            <a:pPr marL="742950" lvl="1" indent="-285750">
              <a:buFont typeface="Wingdings" panose="05000000000000000000" pitchFamily="2" charset="2"/>
              <a:buChar char="§"/>
            </a:pPr>
            <a:endParaRPr lang="en-US" dirty="0">
              <a:latin typeface="Calibri"/>
              <a:ea typeface="Calibri"/>
              <a:cs typeface="Calibri"/>
            </a:endParaRPr>
          </a:p>
          <a:p>
            <a:r>
              <a:rPr lang="en-US" b="1" dirty="0">
                <a:latin typeface="Calibri"/>
                <a:ea typeface="Calibri"/>
                <a:cs typeface="Calibri"/>
              </a:rPr>
              <a:t>5. Creating Linear Motion </a:t>
            </a:r>
          </a:p>
          <a:p>
            <a:pPr marL="742950" lvl="1" indent="-285750">
              <a:buFont typeface="Wingdings" panose="05000000000000000000" pitchFamily="2" charset="2"/>
              <a:buChar char="§"/>
            </a:pPr>
            <a:r>
              <a:rPr lang="en-US" dirty="0">
                <a:latin typeface="Calibri"/>
                <a:ea typeface="Calibri"/>
                <a:cs typeface="Calibri"/>
              </a:rPr>
              <a:t>The spinning TT Gear Motor turns the M6 Threaded Bar. As the bar spins, the M6 Nut (which is attached to the end of the 3D printed inner rod) is forced to travel along the threads. This is what converts the motor's rotation into a powerful linear push-or-pull motion. This whole assembly is housed inside the 3D printed cover pipe.</a:t>
            </a:r>
          </a:p>
          <a:p>
            <a:pPr marL="742950" lvl="1" indent="-285750">
              <a:buFont typeface="Wingdings" panose="05000000000000000000" pitchFamily="2" charset="2"/>
              <a:buChar char="§"/>
            </a:pPr>
            <a:endParaRPr lang="en-US" dirty="0">
              <a:latin typeface="Calibri"/>
              <a:ea typeface="Calibri"/>
              <a:cs typeface="Calibri"/>
            </a:endParaRPr>
          </a:p>
          <a:p>
            <a:r>
              <a:rPr lang="en-US" b="1" dirty="0">
                <a:latin typeface="Calibri"/>
                <a:ea typeface="Calibri"/>
                <a:cs typeface="Calibri"/>
              </a:rPr>
              <a:t>6. The Automatic Stop </a:t>
            </a:r>
          </a:p>
          <a:p>
            <a:pPr marL="742950" lvl="1" indent="-285750">
              <a:buFont typeface="Wingdings" panose="05000000000000000000" pitchFamily="2" charset="2"/>
              <a:buChar char="§"/>
            </a:pPr>
            <a:r>
              <a:rPr lang="en-US" dirty="0">
                <a:latin typeface="Calibri"/>
                <a:ea typeface="Calibri"/>
                <a:cs typeface="Calibri"/>
              </a:rPr>
              <a:t>The actuator continues to move until the inner rod travels far enough to physically press one of the push buttons we installed at either end. When the "Extend" push button is pressed, it sends a signal back to the Arduino. The Arduino sees this signal and immediately tells the relay to cut power to the motor.</a:t>
            </a:r>
            <a:endParaRPr lang="en-IN">
              <a:solidFill>
                <a:prstClr val="white"/>
              </a:solidFill>
              <a:latin typeface="Calibri"/>
              <a:ea typeface="Calibri"/>
              <a:cs typeface="Calibri"/>
            </a:endParaRPr>
          </a:p>
        </p:txBody>
      </p:sp>
    </p:spTree>
    <p:extLst>
      <p:ext uri="{BB962C8B-B14F-4D97-AF65-F5344CB8AC3E}">
        <p14:creationId xmlns:p14="http://schemas.microsoft.com/office/powerpoint/2010/main" val="933194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4E6BCCA-7E5A-434A-3CA7-14D8FF1C9A8E}"/>
              </a:ext>
            </a:extLst>
          </p:cNvPr>
          <p:cNvSpPr>
            <a:spLocks noGrp="1"/>
          </p:cNvSpPr>
          <p:nvPr>
            <p:ph type="sldNum" sz="quarter" idx="29"/>
          </p:nvPr>
        </p:nvSpPr>
        <p:spPr/>
        <p:txBody>
          <a:bodyPr/>
          <a:lstStyle/>
          <a:p>
            <a:fld id="{47FEACEE-25B4-4A2D-B147-27296E36371D}" type="slidenum">
              <a:rPr lang="en-US" altLang="zh-CN" smtClean="0"/>
              <a:pPr/>
              <a:t>8</a:t>
            </a:fld>
            <a:endParaRPr lang="en-US" altLang="zh-CN" dirty="0"/>
          </a:p>
        </p:txBody>
      </p:sp>
      <p:pic>
        <p:nvPicPr>
          <p:cNvPr id="7" name="Picture 6">
            <a:extLst>
              <a:ext uri="{FF2B5EF4-FFF2-40B4-BE49-F238E27FC236}">
                <a16:creationId xmlns:a16="http://schemas.microsoft.com/office/drawing/2014/main" id="{3F27C14C-7E90-B35A-E1B8-29FC61DD0FFB}"/>
              </a:ext>
            </a:extLst>
          </p:cNvPr>
          <p:cNvPicPr>
            <a:picLocks noChangeAspect="1"/>
          </p:cNvPicPr>
          <p:nvPr/>
        </p:nvPicPr>
        <p:blipFill>
          <a:blip r:embed="rId2"/>
          <a:srcRect/>
          <a:stretch/>
        </p:blipFill>
        <p:spPr>
          <a:xfrm>
            <a:off x="1309741" y="1086037"/>
            <a:ext cx="4477717" cy="5565653"/>
          </a:xfrm>
          <a:prstGeom prst="rect">
            <a:avLst/>
          </a:prstGeom>
        </p:spPr>
      </p:pic>
      <p:pic>
        <p:nvPicPr>
          <p:cNvPr id="9" name="Picture 8">
            <a:extLst>
              <a:ext uri="{FF2B5EF4-FFF2-40B4-BE49-F238E27FC236}">
                <a16:creationId xmlns:a16="http://schemas.microsoft.com/office/drawing/2014/main" id="{78E64322-8DF9-AC6E-EE28-7ABC74DAEC32}"/>
              </a:ext>
            </a:extLst>
          </p:cNvPr>
          <p:cNvPicPr>
            <a:picLocks noChangeAspect="1"/>
          </p:cNvPicPr>
          <p:nvPr/>
        </p:nvPicPr>
        <p:blipFill>
          <a:blip r:embed="rId3"/>
          <a:stretch>
            <a:fillRect/>
          </a:stretch>
        </p:blipFill>
        <p:spPr>
          <a:xfrm>
            <a:off x="6569728" y="1012720"/>
            <a:ext cx="4300436" cy="5639714"/>
          </a:xfrm>
          <a:prstGeom prst="rect">
            <a:avLst/>
          </a:prstGeom>
        </p:spPr>
      </p:pic>
      <p:sp>
        <p:nvSpPr>
          <p:cNvPr id="3" name="TextBox 2">
            <a:extLst>
              <a:ext uri="{FF2B5EF4-FFF2-40B4-BE49-F238E27FC236}">
                <a16:creationId xmlns:a16="http://schemas.microsoft.com/office/drawing/2014/main" id="{72B6A30C-CACD-51EA-5633-A0A38AE2E59C}"/>
              </a:ext>
            </a:extLst>
          </p:cNvPr>
          <p:cNvSpPr txBox="1"/>
          <p:nvPr/>
        </p:nvSpPr>
        <p:spPr>
          <a:xfrm>
            <a:off x="725354" y="362677"/>
            <a:ext cx="304558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err="1">
                <a:latin typeface="Calibri"/>
                <a:ea typeface="微软雅黑"/>
                <a:cs typeface="Posterama"/>
              </a:rPr>
              <a:t>Ardino</a:t>
            </a:r>
            <a:r>
              <a:rPr lang="en-US" sz="3200" dirty="0">
                <a:latin typeface="Calibri"/>
                <a:ea typeface="微软雅黑"/>
                <a:cs typeface="Posterama"/>
              </a:rPr>
              <a:t> Code</a:t>
            </a:r>
            <a:endParaRPr lang="en-US" sz="3200">
              <a:latin typeface="Calibri"/>
              <a:ea typeface="微软雅黑"/>
              <a:cs typeface="Posterama" panose="020B0504020200020000" pitchFamily="34" charset="0"/>
            </a:endParaRPr>
          </a:p>
        </p:txBody>
      </p:sp>
    </p:spTree>
    <p:extLst>
      <p:ext uri="{BB962C8B-B14F-4D97-AF65-F5344CB8AC3E}">
        <p14:creationId xmlns:p14="http://schemas.microsoft.com/office/powerpoint/2010/main" val="171788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82CF4-2828-3A19-167D-BCB20A347E6B}"/>
              </a:ext>
            </a:extLst>
          </p:cNvPr>
          <p:cNvSpPr>
            <a:spLocks noGrp="1"/>
          </p:cNvSpPr>
          <p:nvPr>
            <p:ph type="title"/>
          </p:nvPr>
        </p:nvSpPr>
        <p:spPr/>
        <p:txBody>
          <a:bodyPr/>
          <a:lstStyle/>
          <a:p>
            <a:r>
              <a:rPr lang="en-US" sz="3600" dirty="0"/>
              <a:t>NOVELTY</a:t>
            </a:r>
            <a:endParaRPr lang="en-IN" sz="3600" dirty="0"/>
          </a:p>
        </p:txBody>
      </p:sp>
      <p:sp>
        <p:nvSpPr>
          <p:cNvPr id="5" name="Slide Number Placeholder 4">
            <a:extLst>
              <a:ext uri="{FF2B5EF4-FFF2-40B4-BE49-F238E27FC236}">
                <a16:creationId xmlns:a16="http://schemas.microsoft.com/office/drawing/2014/main" id="{FCB29737-8479-28C4-9F97-527A7738A377}"/>
              </a:ext>
            </a:extLst>
          </p:cNvPr>
          <p:cNvSpPr>
            <a:spLocks noGrp="1"/>
          </p:cNvSpPr>
          <p:nvPr>
            <p:ph type="sldNum" sz="quarter" idx="29"/>
          </p:nvPr>
        </p:nvSpPr>
        <p:spPr/>
        <p:txBody>
          <a:bodyPr/>
          <a:lstStyle/>
          <a:p>
            <a:fld id="{47FEACEE-25B4-4A2D-B147-27296E36371D}" type="slidenum">
              <a:rPr lang="en-US" altLang="zh-CN" smtClean="0"/>
              <a:pPr/>
              <a:t>9</a:t>
            </a:fld>
            <a:endParaRPr lang="en-US" altLang="zh-CN" dirty="0"/>
          </a:p>
        </p:txBody>
      </p:sp>
      <p:sp>
        <p:nvSpPr>
          <p:cNvPr id="6" name="TextBox 5">
            <a:extLst>
              <a:ext uri="{FF2B5EF4-FFF2-40B4-BE49-F238E27FC236}">
                <a16:creationId xmlns:a16="http://schemas.microsoft.com/office/drawing/2014/main" id="{5B5C89EE-B4C2-6A69-50CB-7138F9EAA1F3}"/>
              </a:ext>
            </a:extLst>
          </p:cNvPr>
          <p:cNvSpPr txBox="1"/>
          <p:nvPr/>
        </p:nvSpPr>
        <p:spPr>
          <a:xfrm>
            <a:off x="542459" y="1622510"/>
            <a:ext cx="10606340" cy="3095271"/>
          </a:xfrm>
          <a:prstGeom prst="rect">
            <a:avLst/>
          </a:prstGeom>
        </p:spPr>
        <p:txBody>
          <a:bodyPr wrap="square" lIns="91440" tIns="45720" rIns="91440" bIns="45720" rtlCol="0" anchor="t">
            <a:spAutoFit/>
          </a:bodyPr>
          <a:lstStyle/>
          <a:p>
            <a:r>
              <a:rPr lang="en-US" dirty="0">
                <a:latin typeface="Calibri"/>
                <a:ea typeface="Calibri"/>
                <a:cs typeface="Calibri"/>
              </a:rPr>
              <a:t>OUR AUTOMATED STAND PROVIDES A WIDE RANGE OF BENEFITS FOR THE RIDER AND THE VEHICLE.</a:t>
            </a:r>
          </a:p>
          <a:p>
            <a:endParaRPr lang="en-US" dirty="0">
              <a:latin typeface="Calibri"/>
              <a:ea typeface="Calibri"/>
              <a:cs typeface="Calibri"/>
            </a:endParaRPr>
          </a:p>
          <a:p>
            <a:pPr marL="285750" indent="-285750">
              <a:lnSpc>
                <a:spcPct val="150000"/>
              </a:lnSpc>
              <a:buFont typeface="Wingdings" panose="05000000000000000000" pitchFamily="2" charset="2"/>
              <a:buChar char="§"/>
            </a:pPr>
            <a:r>
              <a:rPr lang="en-US" dirty="0">
                <a:latin typeface="Calibri"/>
                <a:ea typeface="Calibri"/>
                <a:cs typeface="Calibri"/>
              </a:rPr>
              <a:t>Requires Zero </a:t>
            </a:r>
            <a:r>
              <a:rPr lang="en-US" dirty="0">
                <a:solidFill>
                  <a:schemeClr val="accent3">
                    <a:lumMod val="10000"/>
                  </a:schemeClr>
                </a:solidFill>
                <a:latin typeface="Calibri"/>
                <a:ea typeface="Calibri"/>
                <a:cs typeface="Calibri"/>
              </a:rPr>
              <a:t>Physical</a:t>
            </a:r>
            <a:r>
              <a:rPr lang="en-US" dirty="0">
                <a:latin typeface="Calibri"/>
                <a:ea typeface="Calibri"/>
                <a:cs typeface="Calibri"/>
              </a:rPr>
              <a:t> Effort: Makes the motorcycle accessible to a wider range of people. </a:t>
            </a:r>
          </a:p>
          <a:p>
            <a:pPr marL="285750" indent="-285750">
              <a:lnSpc>
                <a:spcPct val="150000"/>
              </a:lnSpc>
              <a:buFont typeface="Wingdings" panose="05000000000000000000" pitchFamily="2" charset="2"/>
              <a:buChar char="§"/>
            </a:pPr>
            <a:r>
              <a:rPr lang="en-US" dirty="0">
                <a:latin typeface="Calibri"/>
                <a:ea typeface="Calibri"/>
                <a:cs typeface="Calibri"/>
              </a:rPr>
              <a:t>Saves Parking Space: A vertically parked bike is more compact. </a:t>
            </a:r>
          </a:p>
          <a:p>
            <a:pPr marL="285750" indent="-285750">
              <a:lnSpc>
                <a:spcPct val="150000"/>
              </a:lnSpc>
              <a:buFont typeface="Wingdings" panose="05000000000000000000" pitchFamily="2" charset="2"/>
              <a:buChar char="§"/>
            </a:pPr>
            <a:r>
              <a:rPr lang="en-US" dirty="0">
                <a:latin typeface="Calibri"/>
                <a:ea typeface="Calibri"/>
                <a:cs typeface="Calibri"/>
              </a:rPr>
              <a:t>Easy to Handle: Perfect for heavy motorcycles (e.g., Royal Enfield), sports bikes, and scooters. </a:t>
            </a:r>
          </a:p>
          <a:p>
            <a:pPr marL="285750" indent="-285750">
              <a:lnSpc>
                <a:spcPct val="150000"/>
              </a:lnSpc>
              <a:buFont typeface="Wingdings" panose="05000000000000000000" pitchFamily="2" charset="2"/>
              <a:buChar char="§"/>
            </a:pPr>
            <a:r>
              <a:rPr lang="en-US" dirty="0">
                <a:latin typeface="Calibri"/>
                <a:ea typeface="Calibri"/>
                <a:cs typeface="Calibri"/>
              </a:rPr>
              <a:t>Improved Stability: Balances the motorcycle perfectly, even on slightly uneven surfaces. </a:t>
            </a:r>
          </a:p>
          <a:p>
            <a:pPr marL="285750" indent="-285750">
              <a:lnSpc>
                <a:spcPct val="150000"/>
              </a:lnSpc>
              <a:buFont typeface="Wingdings" panose="05000000000000000000" pitchFamily="2" charset="2"/>
              <a:buChar char="§"/>
            </a:pPr>
            <a:r>
              <a:rPr lang="en-US" dirty="0">
                <a:latin typeface="Calibri"/>
                <a:ea typeface="Calibri"/>
                <a:cs typeface="Calibri"/>
              </a:rPr>
              <a:t>Enhanced Safety: The actuator cannot be manually displaced, acting as an anti-theft feature. </a:t>
            </a:r>
          </a:p>
          <a:p>
            <a:pPr marL="285750" indent="-285750">
              <a:lnSpc>
                <a:spcPct val="150000"/>
              </a:lnSpc>
              <a:buFont typeface="Wingdings" panose="05000000000000000000" pitchFamily="2" charset="2"/>
              <a:buChar char="§"/>
            </a:pPr>
            <a:r>
              <a:rPr lang="en-US" dirty="0">
                <a:latin typeface="Calibri"/>
                <a:ea typeface="Calibri"/>
                <a:cs typeface="Calibri"/>
              </a:rPr>
              <a:t>Easy to Install: The system can be retrofitted onto existing motorcycles with minimal modification.</a:t>
            </a:r>
            <a:endParaRPr lang="en-IN" sz="1800">
              <a:solidFill>
                <a:prstClr val="white"/>
              </a:solidFill>
              <a:latin typeface="Calibri"/>
              <a:ea typeface="Calibri"/>
              <a:cs typeface="Calibri"/>
            </a:endParaRPr>
          </a:p>
        </p:txBody>
      </p:sp>
    </p:spTree>
    <p:extLst>
      <p:ext uri="{BB962C8B-B14F-4D97-AF65-F5344CB8AC3E}">
        <p14:creationId xmlns:p14="http://schemas.microsoft.com/office/powerpoint/2010/main" val="216589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063878-3E0A-90D1-1F79-749C5AF8FF1F}"/>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75EDC47-BD8F-2616-44DC-437D2D21D5A7}"/>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pic>
        <p:nvPicPr>
          <p:cNvPr id="6" name="Picture 5" descr="A circuit board with wires and wires&#10;&#10;AI-generated content may be incorrect.">
            <a:extLst>
              <a:ext uri="{FF2B5EF4-FFF2-40B4-BE49-F238E27FC236}">
                <a16:creationId xmlns:a16="http://schemas.microsoft.com/office/drawing/2014/main" id="{6DC5FF15-5B74-5C51-9CD7-F67CD38FFF8F}"/>
              </a:ext>
            </a:extLst>
          </p:cNvPr>
          <p:cNvPicPr>
            <a:picLocks noChangeAspect="1"/>
          </p:cNvPicPr>
          <p:nvPr/>
        </p:nvPicPr>
        <p:blipFill>
          <a:blip r:embed="rId2"/>
          <a:stretch>
            <a:fillRect/>
          </a:stretch>
        </p:blipFill>
        <p:spPr>
          <a:xfrm rot="5400000">
            <a:off x="4009034" y="-537266"/>
            <a:ext cx="4170651" cy="8451476"/>
          </a:xfrm>
          <a:prstGeom prst="rect">
            <a:avLst/>
          </a:prstGeom>
        </p:spPr>
      </p:pic>
      <p:sp>
        <p:nvSpPr>
          <p:cNvPr id="9" name="TextBox 8">
            <a:extLst>
              <a:ext uri="{FF2B5EF4-FFF2-40B4-BE49-F238E27FC236}">
                <a16:creationId xmlns:a16="http://schemas.microsoft.com/office/drawing/2014/main" id="{65D8661A-0B29-555B-C367-3F6DD76AEA0E}"/>
              </a:ext>
            </a:extLst>
          </p:cNvPr>
          <p:cNvSpPr txBox="1"/>
          <p:nvPr/>
        </p:nvSpPr>
        <p:spPr>
          <a:xfrm>
            <a:off x="831135" y="619573"/>
            <a:ext cx="84642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Calibri"/>
                <a:ea typeface="微软雅黑"/>
                <a:cs typeface="Posterama"/>
              </a:rPr>
              <a:t>Our prototype </a:t>
            </a:r>
            <a:endParaRPr lang="en-US" sz="3600" dirty="0">
              <a:latin typeface="Calibri"/>
              <a:ea typeface="微软雅黑"/>
              <a:cs typeface="Posterama" panose="020B0504020200020000" pitchFamily="34" charset="0"/>
            </a:endParaRPr>
          </a:p>
        </p:txBody>
      </p:sp>
    </p:spTree>
    <p:extLst>
      <p:ext uri="{BB962C8B-B14F-4D97-AF65-F5344CB8AC3E}">
        <p14:creationId xmlns:p14="http://schemas.microsoft.com/office/powerpoint/2010/main" val="3585123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D7D8C-6922-A769-FD4D-B573281B29D0}"/>
              </a:ext>
            </a:extLst>
          </p:cNvPr>
          <p:cNvSpPr>
            <a:spLocks noGrp="1"/>
          </p:cNvSpPr>
          <p:nvPr>
            <p:ph type="title"/>
          </p:nvPr>
        </p:nvSpPr>
        <p:spPr/>
        <p:txBody>
          <a:bodyPr/>
          <a:lstStyle/>
          <a:p>
            <a:r>
              <a:rPr lang="en-US" dirty="0"/>
              <a:t>Limitations</a:t>
            </a:r>
          </a:p>
        </p:txBody>
      </p:sp>
      <p:sp>
        <p:nvSpPr>
          <p:cNvPr id="4" name="Footer Placeholder 3">
            <a:extLst>
              <a:ext uri="{FF2B5EF4-FFF2-40B4-BE49-F238E27FC236}">
                <a16:creationId xmlns:a16="http://schemas.microsoft.com/office/drawing/2014/main" id="{170A19E6-8A3B-3338-C2D7-CE40A7DF855F}"/>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28E5242-07F3-63FB-2DEF-51B9674BC795}"/>
              </a:ext>
            </a:extLst>
          </p:cNvPr>
          <p:cNvSpPr>
            <a:spLocks noGrp="1"/>
          </p:cNvSpPr>
          <p:nvPr>
            <p:ph type="sldNum" sz="quarter" idx="29"/>
          </p:nvPr>
        </p:nvSpPr>
        <p:spPr/>
        <p:txBody>
          <a:bodyPr/>
          <a:lstStyle/>
          <a:p>
            <a:fld id="{47FEACEE-25B4-4A2D-B147-27296E36371D}" type="slidenum">
              <a:rPr lang="en-US" altLang="zh-CN" smtClean="0"/>
              <a:pPr/>
              <a:t>11</a:t>
            </a:fld>
            <a:endParaRPr lang="en-US" altLang="zh-CN" dirty="0"/>
          </a:p>
        </p:txBody>
      </p:sp>
      <p:sp>
        <p:nvSpPr>
          <p:cNvPr id="6" name="TextBox 5">
            <a:extLst>
              <a:ext uri="{FF2B5EF4-FFF2-40B4-BE49-F238E27FC236}">
                <a16:creationId xmlns:a16="http://schemas.microsoft.com/office/drawing/2014/main" id="{EEDD56DC-C31A-5799-0CB6-3EE54E89851B}"/>
              </a:ext>
            </a:extLst>
          </p:cNvPr>
          <p:cNvSpPr txBox="1"/>
          <p:nvPr/>
        </p:nvSpPr>
        <p:spPr>
          <a:xfrm>
            <a:off x="592667" y="1892905"/>
            <a:ext cx="1008742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dirty="0">
                <a:latin typeface="Calibri"/>
                <a:ea typeface="Calibri"/>
                <a:cs typeface="Calibri"/>
              </a:rPr>
              <a:t>Open-Loop Control:</a:t>
            </a:r>
            <a:r>
              <a:rPr lang="en-US" dirty="0">
                <a:latin typeface="Calibri"/>
                <a:ea typeface="Calibri"/>
                <a:cs typeface="Calibri"/>
              </a:rPr>
              <a:t> The system is "open-loop." It has no way of knowing its speed or its exact position at any given moment. It only knows its two </a:t>
            </a:r>
            <a:r>
              <a:rPr lang="en-US" i="1" dirty="0">
                <a:latin typeface="Calibri"/>
                <a:ea typeface="Calibri"/>
                <a:cs typeface="Calibri"/>
              </a:rPr>
              <a:t>endpoints</a:t>
            </a:r>
            <a:r>
              <a:rPr lang="en-US" dirty="0">
                <a:latin typeface="Calibri"/>
                <a:ea typeface="Calibri"/>
                <a:cs typeface="Calibri"/>
              </a:rPr>
              <a:t> when it physically strikes the limit switches (D4, D5).</a:t>
            </a:r>
          </a:p>
          <a:p>
            <a:pPr marL="228600" indent="-228600">
              <a:buFont typeface=""/>
              <a:buChar char="•"/>
            </a:pPr>
            <a:r>
              <a:rPr lang="en-US" b="1" dirty="0">
                <a:latin typeface="Calibri"/>
                <a:ea typeface="Calibri"/>
                <a:cs typeface="Calibri"/>
              </a:rPr>
              <a:t>No Positional Control:</a:t>
            </a:r>
            <a:r>
              <a:rPr lang="en-US" dirty="0">
                <a:latin typeface="Calibri"/>
                <a:ea typeface="Calibri"/>
                <a:cs typeface="Calibri"/>
              </a:rPr>
              <a:t> The actuator cannot be instructed to "move to the 50% position" or "extend 10 cm." Its only functions are "full forward" and "full reverse."</a:t>
            </a:r>
          </a:p>
          <a:p>
            <a:pPr marL="228600" indent="-228600">
              <a:buFont typeface=""/>
              <a:buChar char="•"/>
            </a:pPr>
            <a:r>
              <a:rPr lang="en-US" b="1" dirty="0">
                <a:latin typeface="Calibri"/>
                <a:ea typeface="Calibri"/>
                <a:cs typeface="Calibri"/>
              </a:rPr>
              <a:t>No Speed Control:</a:t>
            </a:r>
            <a:r>
              <a:rPr lang="en-US" dirty="0">
                <a:latin typeface="Calibri"/>
                <a:ea typeface="Calibri"/>
                <a:cs typeface="Calibri"/>
              </a:rPr>
              <a:t> The motor is either 100% ON or 100% OFF. This causes a high-inrush current, jerky motion, and significant mechanical stress (jolt) when starting, stopping, or reversing.</a:t>
            </a:r>
          </a:p>
          <a:p>
            <a:pPr marL="228600" indent="-228600">
              <a:buFont typeface=""/>
              <a:buChar char="•"/>
            </a:pPr>
            <a:r>
              <a:rPr lang="en-US" b="1" dirty="0">
                <a:solidFill>
                  <a:srgbClr val="000000"/>
                </a:solidFill>
                <a:latin typeface="Calibri"/>
                <a:ea typeface="+mn-lt"/>
                <a:cs typeface="+mn-lt"/>
              </a:rPr>
              <a:t>No Jam/Obstacle Detection:</a:t>
            </a:r>
            <a:r>
              <a:rPr lang="en-US" dirty="0">
                <a:solidFill>
                  <a:srgbClr val="000000"/>
                </a:solidFill>
                <a:latin typeface="Calibri"/>
                <a:ea typeface="+mn-lt"/>
                <a:cs typeface="+mn-lt"/>
              </a:rPr>
              <a:t> If the mechanism gets jammed by an external object, the motor will continue to try to run. This will cause the motor to stall, drawing a massive amount of current, which will likely burn out the motor or damage the power supply. It is a major reliability and safety failure point.</a:t>
            </a:r>
            <a:endParaRPr lang="en-US" sz="1800">
              <a:solidFill>
                <a:srgbClr val="000000"/>
              </a:solidFill>
              <a:latin typeface="Calibri"/>
              <a:ea typeface="微软雅黑"/>
              <a:cs typeface="Posterama" panose="020B0504020200020000" pitchFamily="34" charset="0"/>
            </a:endParaRPr>
          </a:p>
          <a:p>
            <a:pPr algn="ctr"/>
            <a:endParaRPr lang="en-US" dirty="0">
              <a:solidFill>
                <a:srgbClr val="FFFFFF"/>
              </a:solidFill>
              <a:latin typeface="Calibri"/>
              <a:ea typeface="微软雅黑"/>
              <a:cs typeface="Posterama" panose="020B0504020200020000" pitchFamily="34" charset="0"/>
            </a:endParaRPr>
          </a:p>
        </p:txBody>
      </p:sp>
    </p:spTree>
    <p:extLst>
      <p:ext uri="{BB962C8B-B14F-4D97-AF65-F5344CB8AC3E}">
        <p14:creationId xmlns:p14="http://schemas.microsoft.com/office/powerpoint/2010/main" val="254499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0E47-3EAF-9E13-5726-6A8BD1119274}"/>
              </a:ext>
            </a:extLst>
          </p:cNvPr>
          <p:cNvSpPr>
            <a:spLocks noGrp="1"/>
          </p:cNvSpPr>
          <p:nvPr>
            <p:ph type="title"/>
          </p:nvPr>
        </p:nvSpPr>
        <p:spPr/>
        <p:txBody>
          <a:bodyPr/>
          <a:lstStyle/>
          <a:p>
            <a:r>
              <a:rPr lang="en-US" dirty="0"/>
              <a:t>Future Scope </a:t>
            </a:r>
          </a:p>
        </p:txBody>
      </p:sp>
      <p:sp>
        <p:nvSpPr>
          <p:cNvPr id="4" name="Footer Placeholder 3">
            <a:extLst>
              <a:ext uri="{FF2B5EF4-FFF2-40B4-BE49-F238E27FC236}">
                <a16:creationId xmlns:a16="http://schemas.microsoft.com/office/drawing/2014/main" id="{DE4208AB-5C46-E73B-874E-5F63265E1F87}"/>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D1973E0-6616-6283-023D-C13AB5146BB6}"/>
              </a:ext>
            </a:extLst>
          </p:cNvPr>
          <p:cNvSpPr>
            <a:spLocks noGrp="1"/>
          </p:cNvSpPr>
          <p:nvPr>
            <p:ph type="sldNum" sz="quarter" idx="29"/>
          </p:nvPr>
        </p:nvSpPr>
        <p:spPr/>
        <p:txBody>
          <a:bodyPr/>
          <a:lstStyle/>
          <a:p>
            <a:fld id="{47FEACEE-25B4-4A2D-B147-27296E36371D}" type="slidenum">
              <a:rPr lang="en-US" altLang="zh-CN" smtClean="0"/>
              <a:pPr/>
              <a:t>12</a:t>
            </a:fld>
            <a:endParaRPr lang="en-US" altLang="zh-CN" dirty="0"/>
          </a:p>
        </p:txBody>
      </p:sp>
      <p:sp>
        <p:nvSpPr>
          <p:cNvPr id="6" name="TextBox 5">
            <a:extLst>
              <a:ext uri="{FF2B5EF4-FFF2-40B4-BE49-F238E27FC236}">
                <a16:creationId xmlns:a16="http://schemas.microsoft.com/office/drawing/2014/main" id="{7B1D2971-1115-2D80-A86C-EC6A35B81A1C}"/>
              </a:ext>
            </a:extLst>
          </p:cNvPr>
          <p:cNvSpPr txBox="1"/>
          <p:nvPr/>
        </p:nvSpPr>
        <p:spPr>
          <a:xfrm>
            <a:off x="481853" y="1624853"/>
            <a:ext cx="1095935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dirty="0">
                <a:latin typeface="Calibri"/>
                <a:ea typeface="Calibri"/>
                <a:cs typeface="Calibri"/>
              </a:rPr>
              <a:t>Variable Speed Control (Soft Start/Stop):</a:t>
            </a:r>
            <a:endParaRPr lang="en-US" dirty="0">
              <a:latin typeface="Calibri"/>
              <a:ea typeface="Calibri"/>
              <a:cs typeface="Calibri"/>
            </a:endParaRPr>
          </a:p>
          <a:p>
            <a:r>
              <a:rPr lang="en-US" b="1" dirty="0">
                <a:latin typeface="Calibri"/>
                <a:ea typeface="Calibri"/>
                <a:cs typeface="Calibri"/>
              </a:rPr>
              <a:t>     </a:t>
            </a:r>
            <a:r>
              <a:rPr lang="en-US" dirty="0">
                <a:latin typeface="Calibri"/>
                <a:ea typeface="Calibri"/>
                <a:cs typeface="Calibri"/>
              </a:rPr>
              <a:t> Action</a:t>
            </a:r>
            <a:r>
              <a:rPr lang="en-US" b="1" dirty="0">
                <a:latin typeface="Calibri"/>
                <a:ea typeface="Calibri"/>
                <a:cs typeface="Calibri"/>
              </a:rPr>
              <a:t>:</a:t>
            </a:r>
            <a:r>
              <a:rPr lang="en-US" dirty="0">
                <a:latin typeface="Calibri"/>
                <a:ea typeface="Calibri"/>
                <a:cs typeface="Calibri"/>
              </a:rPr>
              <a:t> Replace the two relays (D6, D7) with a </a:t>
            </a:r>
            <a:r>
              <a:rPr lang="en-US" b="1" dirty="0">
                <a:latin typeface="Calibri"/>
                <a:ea typeface="Calibri"/>
                <a:cs typeface="Calibri"/>
              </a:rPr>
              <a:t>solid-state L298N H-Bridge Motor Driver</a:t>
            </a:r>
            <a:r>
              <a:rPr lang="en-US" dirty="0">
                <a:latin typeface="Calibri"/>
                <a:ea typeface="Calibri"/>
                <a:cs typeface="Calibri"/>
              </a:rPr>
              <a:t>.</a:t>
            </a:r>
          </a:p>
          <a:p>
            <a:pPr marL="0" lvl="1"/>
            <a:r>
              <a:rPr lang="en-US" b="1" dirty="0">
                <a:latin typeface="Calibri"/>
                <a:ea typeface="Calibri"/>
                <a:cs typeface="Calibri"/>
              </a:rPr>
              <a:t>      </a:t>
            </a:r>
            <a:r>
              <a:rPr lang="en-US" dirty="0">
                <a:latin typeface="Calibri"/>
                <a:ea typeface="Calibri"/>
                <a:cs typeface="Calibri"/>
              </a:rPr>
              <a:t>Benefit</a:t>
            </a:r>
            <a:r>
              <a:rPr lang="en-US" b="1" dirty="0">
                <a:latin typeface="Calibri"/>
                <a:ea typeface="Calibri"/>
                <a:cs typeface="Calibri"/>
              </a:rPr>
              <a:t>:</a:t>
            </a:r>
            <a:r>
              <a:rPr lang="en-US" dirty="0">
                <a:latin typeface="Calibri"/>
                <a:ea typeface="Calibri"/>
                <a:cs typeface="Calibri"/>
              </a:rPr>
              <a:t> This allows the Arduino to use </a:t>
            </a:r>
            <a:r>
              <a:rPr lang="en-US" err="1">
                <a:latin typeface="Calibri"/>
                <a:ea typeface="Calibri"/>
                <a:cs typeface="Calibri"/>
              </a:rPr>
              <a:t>analogWrite</a:t>
            </a:r>
            <a:r>
              <a:rPr lang="en-US" dirty="0">
                <a:latin typeface="Calibri"/>
                <a:ea typeface="Calibri"/>
                <a:cs typeface="Calibri"/>
              </a:rPr>
              <a:t>() (PWM) signals to control the motor's          speed. This would enable a "soft start" and "soft stop" feature, where the motor gently ramps up to speed and slows down, drastically reducing mechanical shock and wear.</a:t>
            </a:r>
          </a:p>
          <a:p>
            <a:pPr marL="228600" indent="-228600">
              <a:buFont typeface=""/>
              <a:buChar char="•"/>
            </a:pPr>
            <a:r>
              <a:rPr lang="en-US" b="1" dirty="0">
                <a:latin typeface="Calibri"/>
                <a:ea typeface="Calibri"/>
                <a:cs typeface="Calibri"/>
              </a:rPr>
              <a:t>Closed-Loop Positional Control (Servo-Actuator):</a:t>
            </a:r>
          </a:p>
          <a:p>
            <a:pPr marL="0" lvl="1"/>
            <a:r>
              <a:rPr lang="en-US" b="1" dirty="0">
                <a:latin typeface="Calibri"/>
                <a:ea typeface="Calibri"/>
                <a:cs typeface="Calibri"/>
              </a:rPr>
              <a:t>      </a:t>
            </a:r>
            <a:r>
              <a:rPr lang="en-US" dirty="0">
                <a:latin typeface="Calibri"/>
                <a:ea typeface="Calibri"/>
                <a:cs typeface="Calibri"/>
              </a:rPr>
              <a:t>Action</a:t>
            </a:r>
            <a:r>
              <a:rPr lang="en-US" b="1" dirty="0">
                <a:latin typeface="Calibri"/>
                <a:ea typeface="Calibri"/>
                <a:cs typeface="Calibri"/>
              </a:rPr>
              <a:t>:</a:t>
            </a:r>
            <a:r>
              <a:rPr lang="en-US" dirty="0">
                <a:latin typeface="Calibri"/>
                <a:ea typeface="Calibri"/>
                <a:cs typeface="Calibri"/>
              </a:rPr>
              <a:t> Add a </a:t>
            </a:r>
            <a:r>
              <a:rPr lang="en-US" b="1" dirty="0">
                <a:latin typeface="Calibri"/>
                <a:ea typeface="Calibri"/>
                <a:cs typeface="Calibri"/>
              </a:rPr>
              <a:t>rotary encoder</a:t>
            </a:r>
            <a:r>
              <a:rPr lang="en-US" dirty="0">
                <a:latin typeface="Calibri"/>
                <a:ea typeface="Calibri"/>
                <a:cs typeface="Calibri"/>
              </a:rPr>
              <a:t> to the motor's shaft or a </a:t>
            </a:r>
            <a:r>
              <a:rPr lang="en-US" b="1" dirty="0">
                <a:latin typeface="Calibri"/>
                <a:ea typeface="Calibri"/>
                <a:cs typeface="Calibri"/>
              </a:rPr>
              <a:t>potentiometer</a:t>
            </a:r>
            <a:r>
              <a:rPr lang="en-US" dirty="0">
                <a:latin typeface="Calibri"/>
                <a:ea typeface="Calibri"/>
                <a:cs typeface="Calibri"/>
              </a:rPr>
              <a:t> geared to the lead                    screw.</a:t>
            </a:r>
          </a:p>
          <a:p>
            <a:pPr marL="0" lvl="1"/>
            <a:r>
              <a:rPr lang="en-US" b="1" dirty="0">
                <a:latin typeface="Calibri"/>
                <a:ea typeface="Calibri"/>
                <a:cs typeface="Calibri"/>
              </a:rPr>
              <a:t>     </a:t>
            </a:r>
            <a:r>
              <a:rPr lang="en-US" dirty="0">
                <a:latin typeface="Calibri"/>
                <a:ea typeface="Calibri"/>
                <a:cs typeface="Calibri"/>
              </a:rPr>
              <a:t> Benefit</a:t>
            </a:r>
            <a:r>
              <a:rPr lang="en-US" b="1" dirty="0">
                <a:latin typeface="Calibri"/>
                <a:ea typeface="Calibri"/>
                <a:cs typeface="Calibri"/>
              </a:rPr>
              <a:t>:</a:t>
            </a:r>
            <a:r>
              <a:rPr lang="en-US" dirty="0">
                <a:latin typeface="Calibri"/>
                <a:ea typeface="Calibri"/>
                <a:cs typeface="Calibri"/>
              </a:rPr>
              <a:t> This gives the Arduino "eyes" to see its </a:t>
            </a:r>
            <a:r>
              <a:rPr lang="en-US" i="1" dirty="0">
                <a:latin typeface="Calibri"/>
                <a:ea typeface="Calibri"/>
                <a:cs typeface="Calibri"/>
              </a:rPr>
              <a:t>exact</a:t>
            </a:r>
            <a:r>
              <a:rPr lang="en-US" dirty="0">
                <a:latin typeface="Calibri"/>
                <a:ea typeface="Calibri"/>
                <a:cs typeface="Calibri"/>
              </a:rPr>
              <a:t> position, speed, and direction at all times. The system could then be programmed with precise commands like "extend 75mm" or "move to 30% of total length."</a:t>
            </a:r>
          </a:p>
          <a:p>
            <a:pPr marL="228600" indent="-228600">
              <a:buFont typeface=""/>
              <a:buChar char="•"/>
            </a:pPr>
            <a:r>
              <a:rPr lang="en-US" b="1" dirty="0">
                <a:latin typeface="Calibri"/>
                <a:ea typeface="Calibri"/>
                <a:cs typeface="Calibri"/>
              </a:rPr>
              <a:t>Overcurrent Protection (Jam Sensing):</a:t>
            </a:r>
          </a:p>
          <a:p>
            <a:pPr marL="0" lvl="1"/>
            <a:r>
              <a:rPr lang="en-US" b="1" dirty="0">
                <a:latin typeface="Calibri"/>
                <a:ea typeface="Calibri"/>
                <a:cs typeface="Calibri"/>
              </a:rPr>
              <a:t>       </a:t>
            </a:r>
            <a:r>
              <a:rPr lang="en-US" dirty="0">
                <a:latin typeface="Calibri"/>
                <a:ea typeface="Calibri"/>
                <a:cs typeface="Calibri"/>
              </a:rPr>
              <a:t>Action</a:t>
            </a:r>
            <a:r>
              <a:rPr lang="en-US" b="1" dirty="0">
                <a:latin typeface="Calibri"/>
                <a:ea typeface="Calibri"/>
                <a:cs typeface="Calibri"/>
              </a:rPr>
              <a:t>:</a:t>
            </a:r>
            <a:r>
              <a:rPr lang="en-US" dirty="0">
                <a:latin typeface="Calibri"/>
                <a:ea typeface="Calibri"/>
                <a:cs typeface="Calibri"/>
              </a:rPr>
              <a:t> Integrate an </a:t>
            </a:r>
            <a:r>
              <a:rPr lang="en-US" b="1" dirty="0">
                <a:latin typeface="Calibri"/>
                <a:ea typeface="Calibri"/>
                <a:cs typeface="Calibri"/>
              </a:rPr>
              <a:t>ACS712 Current Sensor</a:t>
            </a:r>
            <a:r>
              <a:rPr lang="en-US" dirty="0">
                <a:latin typeface="Calibri"/>
                <a:ea typeface="Calibri"/>
                <a:cs typeface="Calibri"/>
              </a:rPr>
              <a:t> on the motor's 12V power line.</a:t>
            </a:r>
          </a:p>
          <a:p>
            <a:pPr marL="0" lvl="1"/>
            <a:r>
              <a:rPr lang="en-US" b="1" dirty="0">
                <a:latin typeface="Calibri"/>
                <a:ea typeface="Calibri"/>
                <a:cs typeface="Calibri"/>
              </a:rPr>
              <a:t>       </a:t>
            </a:r>
            <a:r>
              <a:rPr lang="en-US" dirty="0">
                <a:latin typeface="Calibri"/>
                <a:ea typeface="Calibri"/>
                <a:cs typeface="Calibri"/>
              </a:rPr>
              <a:t>Benefit</a:t>
            </a:r>
            <a:r>
              <a:rPr lang="en-US" b="1" dirty="0">
                <a:latin typeface="Calibri"/>
                <a:ea typeface="Calibri"/>
                <a:cs typeface="Calibri"/>
              </a:rPr>
              <a:t>:</a:t>
            </a:r>
            <a:r>
              <a:rPr lang="en-US" dirty="0">
                <a:latin typeface="Calibri"/>
                <a:ea typeface="Calibri"/>
                <a:cs typeface="Calibri"/>
              </a:rPr>
              <a:t> The Arduino can constantly monitor the motor's current draw. If the current spikes above a pre-set limit (a sign of a jam), the program can immediately enter the </a:t>
            </a:r>
            <a:r>
              <a:rPr lang="en-US" err="1">
                <a:latin typeface="Calibri"/>
                <a:ea typeface="Calibri"/>
                <a:cs typeface="Calibri"/>
              </a:rPr>
              <a:t>stopMotor</a:t>
            </a:r>
            <a:r>
              <a:rPr lang="en-US" dirty="0">
                <a:latin typeface="Calibri"/>
                <a:ea typeface="Calibri"/>
                <a:cs typeface="Calibri"/>
              </a:rPr>
              <a:t>() state, protecting the hardware from damage and alerting a user to a fault.</a:t>
            </a:r>
            <a:endParaRPr lang="en-US">
              <a:latin typeface="Calibri"/>
              <a:ea typeface="Calibri"/>
              <a:cs typeface="Calibri"/>
            </a:endParaRPr>
          </a:p>
          <a:p>
            <a:pPr marL="0" indent="0" algn="ctr">
              <a:lnSpc>
                <a:spcPct val="100000"/>
              </a:lnSpc>
              <a:spcBef>
                <a:spcPts val="0"/>
              </a:spcBef>
              <a:buFontTx/>
              <a:buNone/>
            </a:pPr>
            <a:endParaRPr lang="en-US" sz="1800" dirty="0">
              <a:solidFill>
                <a:prstClr val="white"/>
              </a:solidFill>
              <a:latin typeface="Calibri"/>
              <a:ea typeface="微软雅黑"/>
              <a:cs typeface="Posterama" panose="020B0504020200020000" pitchFamily="34" charset="0"/>
            </a:endParaRPr>
          </a:p>
        </p:txBody>
      </p:sp>
    </p:spTree>
    <p:extLst>
      <p:ext uri="{BB962C8B-B14F-4D97-AF65-F5344CB8AC3E}">
        <p14:creationId xmlns:p14="http://schemas.microsoft.com/office/powerpoint/2010/main" val="3953206736"/>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AD9BE2-6B3D-4616-B044-300A8177DEA5}">
  <ds:schemaRefs>
    <ds:schemaRef ds:uri="http://schemas.microsoft.com/office/2006/documentManagement/types"/>
    <ds:schemaRef ds:uri="http://purl.org/dc/elements/1.1/"/>
    <ds:schemaRef ds:uri="http://purl.org/dc/terms/"/>
    <ds:schemaRef ds:uri="http://schemas.microsoft.com/sharepoint/v3"/>
    <ds:schemaRef ds:uri="71af3243-3dd4-4a8d-8c0d-dd76da1f02a5"/>
    <ds:schemaRef ds:uri="16c05727-aa75-4e4a-9b5f-8a80a1165891"/>
    <ds:schemaRef ds:uri="http://schemas.microsoft.com/office/infopath/2007/PartnerControls"/>
    <ds:schemaRef ds:uri="230e9df3-be65-4c73-a93b-d1236ebd677e"/>
    <ds:schemaRef ds:uri="http://www.w3.org/XML/1998/namespace"/>
    <ds:schemaRef ds:uri="http://schemas.openxmlformats.org/package/2006/metadata/core-properties"/>
    <ds:schemaRef ds:uri="http://schemas.microsoft.com/office/2006/metadata/properties"/>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309</TotalTime>
  <Words>835</Words>
  <Application>Microsoft Office PowerPoint</Application>
  <PresentationFormat>Widescreen</PresentationFormat>
  <Paragraphs>77</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Custom​​</vt:lpstr>
      <vt:lpstr>Automatic Centre Stand For Motorcycles </vt:lpstr>
      <vt:lpstr>PowerPoint Presentation</vt:lpstr>
      <vt:lpstr>THE CHALLENGE OF MANUAL STANDS</vt:lpstr>
      <vt:lpstr>Our Solution: The Smart Stand</vt:lpstr>
      <vt:lpstr>List of Items used</vt:lpstr>
      <vt:lpstr>Working Principle</vt:lpstr>
      <vt:lpstr>PowerPoint Presentation</vt:lpstr>
      <vt:lpstr>PowerPoint Presentation</vt:lpstr>
      <vt:lpstr>NOVELTY</vt:lpstr>
      <vt:lpstr>PowerPoint Presentation</vt:lpstr>
      <vt:lpstr>Limitations</vt:lpstr>
      <vt:lpstr>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Manthru Naik</dc:creator>
  <cp:lastModifiedBy>Manthru Naik</cp:lastModifiedBy>
  <cp:revision>291</cp:revision>
  <dcterms:created xsi:type="dcterms:W3CDTF">2025-11-13T15:28:49Z</dcterms:created>
  <dcterms:modified xsi:type="dcterms:W3CDTF">2025-11-14T10:08:57Z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